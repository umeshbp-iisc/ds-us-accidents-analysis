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
  </p:notesMasterIdLst>
  <p:sldIdLst>
    <p:sldId id="160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E3384D-9AF4-C943-50D4-31F7B2135AEF}" v="96" dt="2025-11-30T16:37:56.935"/>
    <p1510:client id="{393C845D-40E6-47D0-23BA-F0755935EE85}" v="134" dt="2025-11-30T13:52:43.075"/>
    <p1510:client id="{4A60DDA9-C46C-408F-D421-05E721265203}" v="575" dt="2025-12-01T12:13:54.111"/>
    <p1510:client id="{4B1FE6DD-8753-3998-E878-59B79C0BB9F0}" v="11" dt="2025-12-01T03:53:52.874"/>
    <p1510:client id="{4C00E7EA-5BA5-7693-9FD6-A519BA4F73AF}" v="227" dt="2025-11-30T15:49:05.819"/>
    <p1510:client id="{5C77D25B-AC19-EF04-A0CA-A613E9D60F68}" v="11" dt="2025-12-01T13:04:14.539"/>
    <p1510:client id="{7A09635B-1A68-EDE5-B1E2-C94E658A27C4}" v="1158" dt="2025-12-01T08:43:47.396"/>
    <p1510:client id="{87BBC617-4B3A-403B-BF1F-6CE65E8389EB}" v="206" dt="2025-12-01T12:10:26.551"/>
    <p1510:client id="{8DC5A2F4-F762-32C8-584E-8B868E319762}" v="5" dt="2025-12-01T10:39:21.670"/>
    <p1510:client id="{A8F0C6B8-27FA-5BB6-CCB7-FE47697A7112}" v="17" dt="2025-11-30T16:10:11.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9237E0-4430-4753-A6DD-DBA12CC12699}"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7348A-434F-45D4-8996-1779BC2F06B1}" type="slidenum">
              <a:rPr lang="en-IN" smtClean="0"/>
              <a:t>‹#›</a:t>
            </a:fld>
            <a:endParaRPr lang="en-IN"/>
          </a:p>
        </p:txBody>
      </p:sp>
    </p:spTree>
    <p:extLst>
      <p:ext uri="{BB962C8B-B14F-4D97-AF65-F5344CB8AC3E}">
        <p14:creationId xmlns:p14="http://schemas.microsoft.com/office/powerpoint/2010/main" val="4118041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5400" spc="-50" baseline="0">
                <a:solidFill>
                  <a:schemeClr val="bg1"/>
                </a:solidFill>
              </a:defRPr>
            </a:lvl1pPr>
          </a:lstStyle>
          <a:p>
            <a:r>
              <a:rPr lang="en-US"/>
              <a:t>Title</a:t>
            </a:r>
          </a:p>
        </p:txBody>
      </p:sp>
      <p:sp>
        <p:nvSpPr>
          <p:cNvPr id="3" name="Subtitle 2"/>
          <p:cNvSpPr>
            <a:spLocks noGrp="1"/>
          </p:cNvSpPr>
          <p:nvPr>
            <p:ph type="subTitle" idx="1"/>
          </p:nvPr>
        </p:nvSpPr>
        <p:spPr>
          <a:xfrm>
            <a:off x="1100052" y="4455620"/>
            <a:ext cx="10058400" cy="1143000"/>
          </a:xfrm>
        </p:spPr>
        <p:txBody>
          <a:bodyPr lIns="91440" rIns="91440">
            <a:normAutofit/>
          </a:bodyPr>
          <a:lstStyle>
            <a:lvl1pPr marL="0" indent="0" algn="l">
              <a:buNone/>
              <a:defRPr sz="2400" b="0" i="1" cap="none" spc="200" baseline="0">
                <a:solidFill>
                  <a:schemeClr val="bg1"/>
                </a:solidFill>
                <a:latin typeface="Graphik Light" panose="020B040303020206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73827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Graphik Regular" panose="020B0503030202060203" pitchFamily="34" charset="0"/>
              </a:defRPr>
            </a:lvl1pPr>
            <a:lvl2pPr>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3020835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2925" y="286604"/>
            <a:ext cx="10612756" cy="1000608"/>
          </a:xfrm>
        </p:spPr>
        <p:txBody>
          <a:bodyPr/>
          <a:lstStyle>
            <a:lvl1pPr marL="0">
              <a:defRPr/>
            </a:lvl1pPr>
          </a:lstStyle>
          <a:p>
            <a:r>
              <a:rPr lang="en-US"/>
              <a:t>Click to edit Master title style</a:t>
            </a:r>
          </a:p>
        </p:txBody>
      </p:sp>
      <p:sp>
        <p:nvSpPr>
          <p:cNvPr id="3" name="Content Placeholder 2"/>
          <p:cNvSpPr>
            <a:spLocks noGrp="1"/>
          </p:cNvSpPr>
          <p:nvPr>
            <p:ph idx="1"/>
          </p:nvPr>
        </p:nvSpPr>
        <p:spPr>
          <a:xfrm>
            <a:off x="542925" y="1549400"/>
            <a:ext cx="10612756" cy="4648199"/>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sz="1100"/>
            </a:lvl1p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055830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54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Graphik Light" panose="020B0403030202060203"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9558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514351" y="286604"/>
            <a:ext cx="11134725" cy="968440"/>
          </a:xfrm>
        </p:spPr>
        <p:txBody>
          <a:bodyPr/>
          <a:lstStyle/>
          <a:p>
            <a:r>
              <a:rPr lang="en-US"/>
              <a:t>Click to edit Master title style</a:t>
            </a:r>
          </a:p>
        </p:txBody>
      </p:sp>
      <p:sp>
        <p:nvSpPr>
          <p:cNvPr id="3" name="Content Placeholder 2"/>
          <p:cNvSpPr>
            <a:spLocks noGrp="1"/>
          </p:cNvSpPr>
          <p:nvPr>
            <p:ph sz="half" idx="1"/>
          </p:nvPr>
        </p:nvSpPr>
        <p:spPr>
          <a:xfrm>
            <a:off x="514350" y="1531407"/>
            <a:ext cx="540000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4590" y="1531408"/>
            <a:ext cx="540000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161009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it-IT"/>
              <a:t>DA 204o: Data Science in Practice</a:t>
            </a:r>
            <a:endParaRPr lang="en-SG"/>
          </a:p>
        </p:txBody>
      </p:sp>
      <p:sp>
        <p:nvSpPr>
          <p:cNvPr id="9" name="Slide Number Placeholder 8"/>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42561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it-IT"/>
              <a:t>DA 204o: Data Science in Practice</a:t>
            </a:r>
            <a:endParaRPr lang="en-SG"/>
          </a:p>
        </p:txBody>
      </p:sp>
      <p:sp>
        <p:nvSpPr>
          <p:cNvPr id="5" name="Slide Number Placeholder 4"/>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297689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it-IT"/>
              <a:t>DA 204o: Data Science in Practice</a:t>
            </a:r>
            <a:endParaRPr lang="en-SG"/>
          </a:p>
        </p:txBody>
      </p:sp>
      <p:sp>
        <p:nvSpPr>
          <p:cNvPr id="9" name="Slide Number Placeholder 8"/>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1299289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8" name="Rectangle 7"/>
          <p:cNvSpPr/>
          <p:nvPr/>
        </p:nvSpPr>
        <p:spPr>
          <a:xfrm>
            <a:off x="606582" y="106831"/>
            <a:ext cx="11271565" cy="6246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606582" y="731520"/>
            <a:ext cx="11271565" cy="5257800"/>
          </a:xfrm>
        </p:spPr>
        <p:txBody>
          <a:bodyPr/>
          <a:lstStyle>
            <a:lvl1pPr>
              <a:defRPr>
                <a:latin typeface="Graphik Regular" panose="020B0503030202060203" pitchFamily="34" charset="0"/>
              </a:defRPr>
            </a:lvl1pPr>
            <a:lvl2pPr>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606582" y="6102490"/>
            <a:ext cx="4648201" cy="365125"/>
          </a:xfrm>
        </p:spPr>
        <p:txBody>
          <a:bodyPr/>
          <a:lstStyle>
            <a:lvl1pPr algn="l">
              <a:defRPr>
                <a:solidFill>
                  <a:schemeClr val="accent2"/>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sp>
        <p:nvSpPr>
          <p:cNvPr id="10" name="Title 7">
            <a:extLst>
              <a:ext uri="{FF2B5EF4-FFF2-40B4-BE49-F238E27FC236}">
                <a16:creationId xmlns:a16="http://schemas.microsoft.com/office/drawing/2014/main" id="{24B7ED05-9CA9-81CD-55D5-01741689E940}"/>
              </a:ext>
            </a:extLst>
          </p:cNvPr>
          <p:cNvSpPr>
            <a:spLocks noGrp="1"/>
          </p:cNvSpPr>
          <p:nvPr>
            <p:ph type="title" idx="4294967295"/>
          </p:nvPr>
        </p:nvSpPr>
        <p:spPr>
          <a:xfrm>
            <a:off x="784636" y="160445"/>
            <a:ext cx="10800782" cy="507704"/>
          </a:xfrm>
        </p:spPr>
        <p:txBody>
          <a:bodyPr>
            <a:noAutofit/>
          </a:bodyPr>
          <a:lstStyle>
            <a:lvl1pPr>
              <a:defRPr sz="2000"/>
            </a:lvl1pPr>
          </a:lstStyle>
          <a:p>
            <a:endParaRPr lang="en-SG" sz="2400">
              <a:solidFill>
                <a:schemeClr val="bg1"/>
              </a:solidFill>
            </a:endParaRPr>
          </a:p>
        </p:txBody>
      </p:sp>
    </p:spTree>
    <p:extLst>
      <p:ext uri="{BB962C8B-B14F-4D97-AF65-F5344CB8AC3E}">
        <p14:creationId xmlns:p14="http://schemas.microsoft.com/office/powerpoint/2010/main" val="491982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1"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4" y="0"/>
            <a:ext cx="12191986"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1"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296879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796814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899" y="414779"/>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199"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84021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876" y="18156"/>
            <a:ext cx="11229975" cy="99403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23876" y="1217451"/>
            <a:ext cx="11229975" cy="507429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1100" cap="none" baseline="0">
                <a:solidFill>
                  <a:schemeClr val="accent2"/>
                </a:solidFill>
                <a:latin typeface="Graphik Regular" panose="020B0503030202060203" pitchFamily="34" charset="0"/>
              </a:defRPr>
            </a:lvl1pPr>
          </a:lstStyle>
          <a:p>
            <a:r>
              <a:rPr lang="it-IT"/>
              <a:t>DA 204o: Data Science in Practice</a:t>
            </a:r>
            <a:endParaRPr lang="en-SG"/>
          </a:p>
        </p:txBody>
      </p:sp>
      <p:sp>
        <p:nvSpPr>
          <p:cNvPr id="6" name="Slide Number Placeholder 5"/>
          <p:cNvSpPr>
            <a:spLocks noGrp="1"/>
          </p:cNvSpPr>
          <p:nvPr>
            <p:ph type="sldNum" sz="quarter" idx="4"/>
          </p:nvPr>
        </p:nvSpPr>
        <p:spPr>
          <a:xfrm>
            <a:off x="10879975" y="6459785"/>
            <a:ext cx="1312025" cy="365125"/>
          </a:xfrm>
          <a:prstGeom prst="rect">
            <a:avLst/>
          </a:prstGeom>
          <a:noFill/>
        </p:spPr>
        <p:txBody>
          <a:bodyPr vert="horz" lIns="91440" tIns="45720" rIns="91440" bIns="45720" rtlCol="0" anchor="ctr"/>
          <a:lstStyle>
            <a:lvl1pPr algn="r">
              <a:defRPr sz="1050">
                <a:solidFill>
                  <a:schemeClr val="tx1"/>
                </a:solidFill>
                <a:latin typeface="Graphik Thin" panose="020B0203030202060203" pitchFamily="34" charset="0"/>
              </a:defRPr>
            </a:lvl1pPr>
          </a:lstStyle>
          <a:p>
            <a:fld id="{BF1758FF-0BF1-4103-A89A-38EC40E85429}" type="slidenum">
              <a:rPr lang="en-SG" smtClean="0"/>
              <a:pPr/>
              <a:t>‹#›</a:t>
            </a:fld>
            <a:endParaRPr lang="en-SG"/>
          </a:p>
        </p:txBody>
      </p:sp>
    </p:spTree>
    <p:extLst>
      <p:ext uri="{BB962C8B-B14F-4D97-AF65-F5344CB8AC3E}">
        <p14:creationId xmlns:p14="http://schemas.microsoft.com/office/powerpoint/2010/main" val="626750661"/>
      </p:ext>
    </p:extLst>
  </p:cSld>
  <p:clrMap bg1="lt1" tx1="dk1" bg2="lt2" tx2="dk2" accent1="accent1" accent2="accent2" accent3="accent3" accent4="accent4" accent5="accent5" accent6="accent6" hlink="hlink" folHlink="folHlink"/>
  <p:sldLayoutIdLst>
    <p:sldLayoutId id="2147483721" r:id="rId1"/>
    <p:sldLayoutId id="2147483732"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hdr="0" dt="0"/>
  <p:txStyles>
    <p:title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p:titleStyle>
    <p:bodyStyle>
      <a:lvl1pPr marL="216000" indent="-216000" algn="l" defTabSz="914400" rtl="0" eaLnBrk="1" latinLnBrk="0" hangingPunct="1">
        <a:lnSpc>
          <a:spcPct val="90000"/>
        </a:lnSpc>
        <a:spcBef>
          <a:spcPts val="1200"/>
        </a:spcBef>
        <a:spcAft>
          <a:spcPts val="200"/>
        </a:spcAft>
        <a:buClr>
          <a:schemeClr val="accent2"/>
        </a:buClr>
        <a:buSzPct val="100000"/>
        <a:buFont typeface="Arial" panose="020B0604020202020204" pitchFamily="34" charset="0"/>
        <a:buChar char="•"/>
        <a:defRPr sz="2000" kern="1200">
          <a:solidFill>
            <a:schemeClr val="tx1">
              <a:lumMod val="75000"/>
              <a:lumOff val="25000"/>
            </a:schemeClr>
          </a:solidFill>
          <a:latin typeface="Graphik Light" panose="020B0403030202060203" pitchFamily="34" charset="0"/>
          <a:ea typeface="+mn-ea"/>
          <a:cs typeface="+mn-cs"/>
        </a:defRPr>
      </a:lvl1pPr>
      <a:lvl2pPr marL="48691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800" kern="1200">
          <a:solidFill>
            <a:schemeClr val="tx1">
              <a:lumMod val="75000"/>
              <a:lumOff val="25000"/>
            </a:schemeClr>
          </a:solidFill>
          <a:latin typeface="Graphik Light" panose="020B0403030202060203" pitchFamily="34" charset="0"/>
          <a:ea typeface="+mn-ea"/>
          <a:cs typeface="+mn-cs"/>
        </a:defRPr>
      </a:lvl2pPr>
      <a:lvl3pPr marL="66979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3pPr>
      <a:lvl4pPr marL="85267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4pPr>
      <a:lvl5pPr marL="103555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2CD86328-2369-3A09-9FA1-CD2F4BB020C2}"/>
              </a:ext>
            </a:extLst>
          </p:cNvPr>
          <p:cNvGraphicFramePr>
            <a:graphicFrameLocks noGrp="1"/>
          </p:cNvGraphicFramePr>
          <p:nvPr/>
        </p:nvGraphicFramePr>
        <p:xfrm>
          <a:off x="80682" y="71720"/>
          <a:ext cx="12111320" cy="6806314"/>
        </p:xfrm>
        <a:graphic>
          <a:graphicData uri="http://schemas.openxmlformats.org/drawingml/2006/table">
            <a:tbl>
              <a:tblPr firstRow="1" bandRow="1">
                <a:tableStyleId>{5940675A-B579-460E-94D1-54222C63F5DA}</a:tableStyleId>
              </a:tblPr>
              <a:tblGrid>
                <a:gridCol w="1629365">
                  <a:extLst>
                    <a:ext uri="{9D8B030D-6E8A-4147-A177-3AD203B41FA5}">
                      <a16:colId xmlns:a16="http://schemas.microsoft.com/office/drawing/2014/main" val="2372350435"/>
                    </a:ext>
                  </a:extLst>
                </a:gridCol>
                <a:gridCol w="1398465">
                  <a:extLst>
                    <a:ext uri="{9D8B030D-6E8A-4147-A177-3AD203B41FA5}">
                      <a16:colId xmlns:a16="http://schemas.microsoft.com/office/drawing/2014/main" val="862773583"/>
                    </a:ext>
                  </a:extLst>
                </a:gridCol>
                <a:gridCol w="1513915">
                  <a:extLst>
                    <a:ext uri="{9D8B030D-6E8A-4147-A177-3AD203B41FA5}">
                      <a16:colId xmlns:a16="http://schemas.microsoft.com/office/drawing/2014/main" val="915545707"/>
                    </a:ext>
                  </a:extLst>
                </a:gridCol>
                <a:gridCol w="1513915">
                  <a:extLst>
                    <a:ext uri="{9D8B030D-6E8A-4147-A177-3AD203B41FA5}">
                      <a16:colId xmlns:a16="http://schemas.microsoft.com/office/drawing/2014/main" val="2500554688"/>
                    </a:ext>
                  </a:extLst>
                </a:gridCol>
                <a:gridCol w="1513915">
                  <a:extLst>
                    <a:ext uri="{9D8B030D-6E8A-4147-A177-3AD203B41FA5}">
                      <a16:colId xmlns:a16="http://schemas.microsoft.com/office/drawing/2014/main" val="1075861341"/>
                    </a:ext>
                  </a:extLst>
                </a:gridCol>
                <a:gridCol w="1513915">
                  <a:extLst>
                    <a:ext uri="{9D8B030D-6E8A-4147-A177-3AD203B41FA5}">
                      <a16:colId xmlns:a16="http://schemas.microsoft.com/office/drawing/2014/main" val="3449983952"/>
                    </a:ext>
                  </a:extLst>
                </a:gridCol>
                <a:gridCol w="1513915">
                  <a:extLst>
                    <a:ext uri="{9D8B030D-6E8A-4147-A177-3AD203B41FA5}">
                      <a16:colId xmlns:a16="http://schemas.microsoft.com/office/drawing/2014/main" val="1697363996"/>
                    </a:ext>
                  </a:extLst>
                </a:gridCol>
                <a:gridCol w="1513915">
                  <a:extLst>
                    <a:ext uri="{9D8B030D-6E8A-4147-A177-3AD203B41FA5}">
                      <a16:colId xmlns:a16="http://schemas.microsoft.com/office/drawing/2014/main" val="2869113490"/>
                    </a:ext>
                  </a:extLst>
                </a:gridCol>
              </a:tblGrid>
              <a:tr h="366962">
                <a:tc rowSpan="2" gridSpan="3">
                  <a:txBody>
                    <a:bodyPr/>
                    <a:lstStyle/>
                    <a:p>
                      <a:pPr algn="l"/>
                      <a:r>
                        <a:rPr lang="en-US" sz="1600" b="1">
                          <a:solidFill>
                            <a:schemeClr val="tx1"/>
                          </a:solidFill>
                          <a:latin typeface="Arial"/>
                          <a:cs typeface="Arial"/>
                        </a:rPr>
                        <a:t>Data Science Canvas</a:t>
                      </a:r>
                      <a:endParaRPr lang="en-SG" sz="1600" b="1">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SG" sz="1200">
                        <a:latin typeface="Arial" panose="020B0604020202020204" pitchFamily="34" charset="0"/>
                        <a:cs typeface="Arial" panose="020B0604020202020204" pitchFamily="34" charset="0"/>
                      </a:endParaRPr>
                    </a:p>
                  </a:txBody>
                  <a:tcPr/>
                </a:tc>
                <a:tc rowSpan="2" h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200" b="1">
                          <a:solidFill>
                            <a:schemeClr val="tx1"/>
                          </a:solidFill>
                          <a:latin typeface="Arial"/>
                          <a:cs typeface="Arial"/>
                        </a:rPr>
                        <a:t>Project:</a:t>
                      </a:r>
                      <a:endParaRPr lang="en-SG" sz="1200" b="1">
                        <a:solidFill>
                          <a:schemeClr val="tx1"/>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r>
                        <a:rPr lang="en-IN" sz="1800" b="0" i="0" u="none" strike="noStrike" kern="1200">
                          <a:solidFill>
                            <a:schemeClr val="tx1"/>
                          </a:solidFill>
                          <a:effectLst/>
                          <a:latin typeface="+mn-lt"/>
                          <a:ea typeface="+mn-ea"/>
                          <a:cs typeface="+mn-cs"/>
                        </a:rPr>
                        <a:t>US Accidents – Predictive Modelling and EDA</a:t>
                      </a:r>
                      <a:endParaRPr lang="en-SG" sz="120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871225731"/>
                  </a:ext>
                </a:extLst>
              </a:tr>
              <a:tr h="275221">
                <a:tc gridSpan="3"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200" b="1">
                          <a:solidFill>
                            <a:schemeClr val="tx1"/>
                          </a:solidFill>
                          <a:latin typeface="Arial"/>
                          <a:cs typeface="Arial"/>
                        </a:rPr>
                        <a:t>Team:</a:t>
                      </a:r>
                      <a:endParaRPr lang="en-SG" sz="1200" b="1">
                        <a:solidFill>
                          <a:schemeClr val="tx1"/>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b="1" i="0" u="none" strike="noStrike">
                          <a:solidFill>
                            <a:schemeClr val="tx1"/>
                          </a:solidFill>
                          <a:effectLst/>
                          <a:latin typeface="Times New Roman"/>
                          <a:cs typeface="Times New Roman"/>
                        </a:rPr>
                        <a:t>Roupyajay</a:t>
                      </a:r>
                      <a:r>
                        <a:rPr lang="en-IN" sz="1050" b="1" i="0" u="none" strike="noStrike">
                          <a:solidFill>
                            <a:schemeClr val="tx1"/>
                          </a:solidFill>
                          <a:effectLst/>
                          <a:latin typeface="Times New Roman"/>
                          <a:cs typeface="Times New Roman"/>
                        </a:rPr>
                        <a:t> Bhattacharya, </a:t>
                      </a:r>
                      <a:r>
                        <a:rPr lang="en-US" sz="1050" b="1" i="0" u="none" strike="noStrike">
                          <a:solidFill>
                            <a:schemeClr val="tx1"/>
                          </a:solidFill>
                          <a:effectLst/>
                          <a:latin typeface="Times New Roman"/>
                          <a:cs typeface="Times New Roman"/>
                        </a:rPr>
                        <a:t>Umesh BP, Madipally</a:t>
                      </a:r>
                      <a:r>
                        <a:rPr lang="en-IN" sz="1050" b="1" i="0" u="none" strike="noStrike">
                          <a:solidFill>
                            <a:schemeClr val="tx1"/>
                          </a:solidFill>
                          <a:effectLst/>
                          <a:latin typeface="Times New Roman"/>
                          <a:cs typeface="Times New Roman"/>
                        </a:rPr>
                        <a:t> Bhagath Chandra, </a:t>
                      </a:r>
                      <a:r>
                        <a:rPr lang="en-US" sz="1050" b="1" i="0" u="none" strike="noStrike">
                          <a:solidFill>
                            <a:schemeClr val="tx1"/>
                          </a:solidFill>
                          <a:effectLst/>
                          <a:latin typeface="Times New Roman"/>
                          <a:cs typeface="Times New Roman"/>
                        </a:rPr>
                        <a:t>Ninad</a:t>
                      </a:r>
                      <a:r>
                        <a:rPr lang="en-IN" sz="1050" b="1" i="0" u="none" strike="noStrike">
                          <a:solidFill>
                            <a:schemeClr val="tx1"/>
                          </a:solidFill>
                          <a:effectLst/>
                          <a:latin typeface="Times New Roman"/>
                          <a:cs typeface="Times New Roman"/>
                        </a:rPr>
                        <a:t> Phadnis</a:t>
                      </a:r>
                      <a:endParaRPr lang="en-SG" sz="1050" b="1" i="0">
                        <a:solidFill>
                          <a:schemeClr val="tx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2833998441"/>
                  </a:ext>
                </a:extLst>
              </a:tr>
              <a:tr h="305801">
                <a:tc gridSpan="4">
                  <a:txBody>
                    <a:bodyPr/>
                    <a:lstStyle/>
                    <a:p>
                      <a:pPr algn="ctr"/>
                      <a:r>
                        <a:rPr lang="en-US" sz="1400" b="1">
                          <a:latin typeface="Arial"/>
                          <a:cs typeface="Arial"/>
                        </a:rPr>
                        <a:t>Problem Statement</a:t>
                      </a:r>
                      <a:endParaRPr lang="en-SG" sz="1400" b="1">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hMerge="1">
                  <a:txBody>
                    <a:bodyPr/>
                    <a:lstStyle/>
                    <a:p>
                      <a:endParaRPr lang="en-SG"/>
                    </a:p>
                  </a:txBody>
                  <a:tcPr/>
                </a:tc>
                <a:tc hMerge="1">
                  <a:txBody>
                    <a:bodyPr/>
                    <a:lstStyle/>
                    <a:p>
                      <a:endParaRPr lang="en-SG"/>
                    </a:p>
                  </a:txBody>
                  <a:tcPr/>
                </a:tc>
                <a:tc gridSpan="2">
                  <a:txBody>
                    <a:bodyPr/>
                    <a:lstStyle/>
                    <a:p>
                      <a:pPr algn="ctr"/>
                      <a:r>
                        <a:rPr lang="en-SG" sz="1400" b="1">
                          <a:latin typeface="Arial"/>
                          <a:cs typeface="Arial"/>
                        </a:rPr>
                        <a:t>Execution &amp; 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gridSpan="2">
                  <a:txBody>
                    <a:bodyPr/>
                    <a:lstStyle/>
                    <a:p>
                      <a:pPr algn="ctr"/>
                      <a:r>
                        <a:rPr lang="en-SG" sz="1200" b="1">
                          <a:latin typeface="Arial"/>
                          <a:cs typeface="Arial"/>
                        </a:rPr>
                        <a:t>Data Collection &amp; Preparation</a:t>
                      </a:r>
                      <a:endParaRPr lang="en-SG" sz="1400" b="1">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extLst>
                  <a:ext uri="{0D108BD9-81ED-4DB2-BD59-A6C34878D82A}">
                    <a16:rowId xmlns:a16="http://schemas.microsoft.com/office/drawing/2014/main" val="1105611200"/>
                  </a:ext>
                </a:extLst>
              </a:tr>
              <a:tr h="2706342">
                <a:tc>
                  <a:txBody>
                    <a:bodyPr/>
                    <a:lstStyle/>
                    <a:p>
                      <a:r>
                        <a:rPr lang="en-US" sz="900" b="1">
                          <a:latin typeface="Arial"/>
                          <a:cs typeface="Arial"/>
                        </a:rPr>
                        <a:t>Business Case &amp; Value Added</a:t>
                      </a:r>
                    </a:p>
                    <a:p>
                      <a:r>
                        <a:rPr lang="en-US" sz="900">
                          <a:latin typeface="Arial"/>
                          <a:cs typeface="Arial"/>
                        </a:rPr>
                        <a:t>Which business case should be analyzed and what added value  does it generate?</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Understand the impact of various factors on severity of accidents</a:t>
                      </a:r>
                      <a:r>
                        <a:rPr lang="en-SG" sz="800" b="0" i="0" u="none" strike="noStrike">
                          <a:solidFill>
                            <a:srgbClr val="0070C0"/>
                          </a:solidFill>
                          <a:effectLst/>
                          <a:latin typeface="Arial"/>
                          <a:cs typeface="Arial"/>
                        </a:rPr>
                        <a:t> </a:t>
                      </a:r>
                      <a:r>
                        <a:rPr lang="en-US" sz="800" b="0" i="0" u="none" strike="noStrike">
                          <a:solidFill>
                            <a:srgbClr val="0070C0"/>
                          </a:solidFill>
                          <a:effectLst/>
                          <a:latin typeface="Arial"/>
                          <a:cs typeface="Arial"/>
                        </a:rPr>
                        <a:t>to reduce severity of accidents to save life</a:t>
                      </a:r>
                      <a:r>
                        <a:rPr lang="en-SG" sz="800" b="0" i="0" u="none" strike="noStrike">
                          <a:solidFill>
                            <a:srgbClr val="0070C0"/>
                          </a:solidFill>
                          <a:effectLst/>
                          <a:latin typeface="Arial"/>
                          <a:cs typeface="Arial"/>
                        </a:rPr>
                        <a:t> .</a:t>
                      </a:r>
                      <a:endParaRPr lang="en-IN" sz="800" b="0" i="0" u="none" strike="noStrike">
                        <a:solidFill>
                          <a:srgbClr val="0070C0"/>
                        </a:solidFill>
                        <a:effectLst/>
                        <a:latin typeface="Arial"/>
                        <a:cs typeface="Arial"/>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070C0"/>
                          </a:solidFill>
                          <a:effectLst/>
                          <a:latin typeface="Arial"/>
                          <a:cs typeface="Arial"/>
                        </a:rPr>
                        <a:t>US Accidents – Predictive Modelling</a:t>
                      </a:r>
                    </a:p>
                    <a:p>
                      <a:pPr marL="0" marR="0" indent="0" algn="l" defTabSz="914400" rtl="0" eaLnBrk="1" fontAlgn="auto" latinLnBrk="0" hangingPunct="1">
                        <a:lnSpc>
                          <a:spcPct val="100000"/>
                        </a:lnSpc>
                        <a:spcBef>
                          <a:spcPts val="0"/>
                        </a:spcBef>
                        <a:spcAft>
                          <a:spcPts val="0"/>
                        </a:spcAft>
                        <a:buClrTx/>
                        <a:buSzTx/>
                        <a:buFontTx/>
                        <a:buNone/>
                        <a:tabLst/>
                        <a:defRPr/>
                      </a:pPr>
                      <a:endParaRPr lang="en-SG" sz="800">
                        <a:solidFill>
                          <a:srgbClr val="0070C0"/>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Offices can give flexibility for log in and log off to avoid the rush leading to accidents.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800" b="0" i="0" u="none" strike="noStrike">
                        <a:solidFill>
                          <a:srgbClr val="0070C0"/>
                        </a:solidFill>
                        <a:effectLst/>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Clinics / ambulances can be deployed in vicinity of the red zones as per the heat map to optimized use of the healthcare services and ensuring quick treatments</a:t>
                      </a:r>
                      <a:r>
                        <a:rPr lang="en-US" sz="700" b="0" i="0" u="none" strike="noStrike">
                          <a:solidFill>
                            <a:srgbClr val="0070C0"/>
                          </a:solidFill>
                          <a:effectLst/>
                          <a:latin typeface="Graphik Regular" panose="020B0503030202060203"/>
                        </a:rPr>
                        <a:t>.</a:t>
                      </a:r>
                      <a:endParaRPr lang="en-SG" sz="700">
                        <a:solidFill>
                          <a:srgbClr val="0070C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Model Selection</a:t>
                      </a:r>
                    </a:p>
                    <a:p>
                      <a:r>
                        <a:rPr lang="en-US" sz="900">
                          <a:latin typeface="Arial"/>
                          <a:cs typeface="Arial"/>
                        </a:rPr>
                        <a:t>Which analysis methods can be  considered on the basis of the  specific data landscape and the  business case?</a:t>
                      </a:r>
                    </a:p>
                    <a:p>
                      <a:endParaRPr lang="en-US" sz="900">
                        <a:latin typeface="Arial" panose="020B0604020202020204" pitchFamily="34" charset="0"/>
                        <a:cs typeface="Arial" panose="020B0604020202020204" pitchFamily="34" charset="0"/>
                      </a:endParaRPr>
                    </a:p>
                    <a:p>
                      <a:pPr lvl="0">
                        <a:buNone/>
                      </a:pPr>
                      <a:r>
                        <a:rPr lang="en-US" sz="800" b="0" i="0" u="none" strike="noStrike" kern="1200">
                          <a:solidFill>
                            <a:srgbClr val="0070C0"/>
                          </a:solidFill>
                          <a:effectLst/>
                          <a:latin typeface="Arial"/>
                          <a:ea typeface="+mn-ea"/>
                          <a:cs typeface="Arial"/>
                        </a:rPr>
                        <a:t>Ensemble of </a:t>
                      </a:r>
                    </a:p>
                    <a:p>
                      <a:r>
                        <a:rPr lang="en-US" sz="900">
                          <a:solidFill>
                            <a:srgbClr val="0070C0"/>
                          </a:solidFill>
                          <a:latin typeface="Arial"/>
                          <a:cs typeface="Arial"/>
                        </a:rPr>
                        <a:t> - </a:t>
                      </a:r>
                      <a:r>
                        <a:rPr lang="en-US" sz="800">
                          <a:solidFill>
                            <a:srgbClr val="0070C0"/>
                          </a:solidFill>
                          <a:latin typeface="Arial"/>
                          <a:cs typeface="Arial"/>
                        </a:rPr>
                        <a:t>Logistic Regression</a:t>
                      </a:r>
                    </a:p>
                    <a:p>
                      <a:r>
                        <a:rPr lang="en-US" sz="800">
                          <a:solidFill>
                            <a:srgbClr val="0070C0"/>
                          </a:solidFill>
                          <a:latin typeface="Arial"/>
                          <a:cs typeface="Arial"/>
                        </a:rPr>
                        <a:t> - XGBoost</a:t>
                      </a:r>
                    </a:p>
                    <a:p>
                      <a:r>
                        <a:rPr lang="en-US" sz="800">
                          <a:solidFill>
                            <a:srgbClr val="0070C0"/>
                          </a:solidFill>
                          <a:latin typeface="Arial"/>
                          <a:cs typeface="Arial"/>
                        </a:rPr>
                        <a:t> - Random Forest</a:t>
                      </a:r>
                    </a:p>
                    <a:p>
                      <a:endParaRPr lang="en-US" sz="900">
                        <a:solidFill>
                          <a:schemeClr val="accent2">
                            <a:lumMod val="75000"/>
                          </a:schemeClr>
                        </a:solidFill>
                        <a:latin typeface="Arial" panose="020B0604020202020204" pitchFamily="34" charset="0"/>
                        <a:cs typeface="Arial" panose="020B0604020202020204" pitchFamily="34" charset="0"/>
                      </a:endParaRPr>
                    </a:p>
                    <a:p>
                      <a:endParaRPr lang="en-SG" sz="9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Model Requirements</a:t>
                      </a:r>
                    </a:p>
                    <a:p>
                      <a:r>
                        <a:rPr lang="en-US" sz="900">
                          <a:latin typeface="Arial"/>
                          <a:cs typeface="Arial"/>
                        </a:rPr>
                        <a:t>Which model requirements must be  complied with in order to obtain a  valid model?</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SG" sz="800">
                          <a:solidFill>
                            <a:schemeClr val="accent2"/>
                          </a:solidFill>
                          <a:latin typeface="Arial"/>
                          <a:cs typeface="Arial"/>
                        </a:rPr>
                        <a:t> </a:t>
                      </a:r>
                      <a:r>
                        <a:rPr lang="en-US" sz="800">
                          <a:solidFill>
                            <a:srgbClr val="0070C0"/>
                          </a:solidFill>
                          <a:latin typeface="Arial"/>
                          <a:cs typeface="Arial"/>
                        </a:rPr>
                        <a:t>Extensive Data Analysis must be performed to remove outliners &amp; covariance among  features. </a:t>
                      </a:r>
                    </a:p>
                    <a:p>
                      <a:pPr marL="0" marR="0" indent="0" algn="l" defTabSz="914400" rtl="0" eaLnBrk="1" fontAlgn="auto" latinLnBrk="0" hangingPunct="1">
                        <a:lnSpc>
                          <a:spcPct val="100000"/>
                        </a:lnSpc>
                        <a:spcBef>
                          <a:spcPts val="0"/>
                        </a:spcBef>
                        <a:spcAft>
                          <a:spcPts val="0"/>
                        </a:spcAft>
                        <a:buClrTx/>
                        <a:buSzTx/>
                        <a:buFontTx/>
                        <a:buNone/>
                        <a:tabLst/>
                        <a:defRPr/>
                      </a:pPr>
                      <a:r>
                        <a:rPr lang="en-SG" sz="800" b="0" i="0">
                          <a:solidFill>
                            <a:srgbClr val="0070C0"/>
                          </a:solidFill>
                          <a:effectLst/>
                          <a:latin typeface="Arial"/>
                        </a:rPr>
                        <a:t>Need ML classification model like Logistic Regression, Decision Tree or Ensemble model like Random Forest to obtain a valid model</a:t>
                      </a:r>
                      <a:endParaRPr lang="en-US" sz="800">
                        <a:solidFill>
                          <a:srgbClr val="0070C0"/>
                        </a:solidFill>
                        <a:latin typeface="Arial"/>
                        <a:cs typeface="Arial" panose="020B0604020202020204" pitchFamily="34" charset="0"/>
                      </a:endParaRPr>
                    </a:p>
                    <a:p>
                      <a:endParaRPr lang="en-US" sz="900">
                        <a:solidFill>
                          <a:schemeClr val="accent2"/>
                        </a:solidFill>
                        <a:latin typeface="Arial" panose="020B0604020202020204" pitchFamily="34" charset="0"/>
                        <a:cs typeface="Arial" panose="020B0604020202020204" pitchFamily="34" charset="0"/>
                      </a:endParaRPr>
                    </a:p>
                    <a:p>
                      <a:r>
                        <a:rPr lang="en-US" sz="900">
                          <a:solidFill>
                            <a:schemeClr val="accent2"/>
                          </a:solidFill>
                          <a:latin typeface="Arial"/>
                          <a:cs typeface="Arial"/>
                        </a:rPr>
                        <a:t>.</a:t>
                      </a:r>
                      <a:endParaRPr lang="en-SG" sz="900">
                        <a:solidFill>
                          <a:schemeClr val="accent2"/>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Skills</a:t>
                      </a:r>
                    </a:p>
                    <a:p>
                      <a:r>
                        <a:rPr lang="en-US" sz="900">
                          <a:latin typeface="Arial"/>
                          <a:cs typeface="Arial"/>
                        </a:rPr>
                        <a:t>What skills are needed to provide the data and model development?</a:t>
                      </a:r>
                    </a:p>
                    <a:p>
                      <a:endParaRPr lang="en-SG" sz="900">
                        <a:latin typeface="Arial" panose="020B0604020202020204" pitchFamily="34" charset="0"/>
                        <a:cs typeface="Arial" panose="020B0604020202020204" pitchFamily="34" charset="0"/>
                      </a:endParaRPr>
                    </a:p>
                    <a:p>
                      <a:r>
                        <a:rPr lang="en-SG" sz="900">
                          <a:solidFill>
                            <a:schemeClr val="accent2"/>
                          </a:solidFill>
                          <a:latin typeface="Arial"/>
                          <a:cs typeface="Arial"/>
                        </a:rPr>
                        <a:t> </a:t>
                      </a:r>
                      <a:r>
                        <a:rPr lang="en-SG" sz="900">
                          <a:solidFill>
                            <a:srgbClr val="0070C0"/>
                          </a:solidFill>
                          <a:latin typeface="Arial"/>
                          <a:cs typeface="Arial"/>
                        </a:rPr>
                        <a:t>- Data Science hands on learning.</a:t>
                      </a:r>
                    </a:p>
                    <a:p>
                      <a:pPr algn="l" rtl="0" fontAlgn="base">
                        <a:buNone/>
                      </a:pPr>
                      <a:r>
                        <a:rPr lang="en-SG"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Knowledge on data preprocessing &amp; cleaning</a:t>
                      </a:r>
                      <a:r>
                        <a:rPr lang="en-SG" sz="900" b="0" i="0">
                          <a:solidFill>
                            <a:srgbClr val="0070C0"/>
                          </a:solidFill>
                          <a:effectLst/>
                          <a:latin typeface="Arial"/>
                          <a:cs typeface="Arial"/>
                        </a:rPr>
                        <a:t> </a:t>
                      </a:r>
                      <a:r>
                        <a:rPr lang="en-SG" sz="900" b="0" i="0" u="none" strike="noStrike">
                          <a:solidFill>
                            <a:srgbClr val="0070C0"/>
                          </a:solidFill>
                          <a:effectLst/>
                          <a:latin typeface="Arial"/>
                        </a:rPr>
                        <a:t>Knowledge </a:t>
                      </a:r>
                      <a:r>
                        <a:rPr lang="en-SG" sz="900" b="0" i="0">
                          <a:solidFill>
                            <a:srgbClr val="0070C0"/>
                          </a:solidFill>
                          <a:effectLst/>
                          <a:latin typeface="Arial"/>
                        </a:rPr>
                        <a:t>on Explanatory Data Analysis ​</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a:t>
                      </a:r>
                      <a:r>
                        <a:rPr lang="en-SG" sz="900" b="0" i="0">
                          <a:solidFill>
                            <a:srgbClr val="0070C0"/>
                          </a:solidFill>
                          <a:effectLst/>
                          <a:latin typeface="Arial"/>
                        </a:rPr>
                        <a:t>on model building and model validation</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on Python libraries</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in Google Collab</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on integration &amp; reporting</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marL="0" marR="0" indent="0" algn="l" defTabSz="914400" rtl="0" eaLnBrk="1" fontAlgn="base" latinLnBrk="0" hangingPunct="1">
                        <a:lnSpc>
                          <a:spcPts val="975"/>
                        </a:lnSpc>
                        <a:spcBef>
                          <a:spcPts val="0"/>
                        </a:spcBef>
                        <a:spcAft>
                          <a:spcPts val="0"/>
                        </a:spcAft>
                        <a:buClrTx/>
                        <a:buSzTx/>
                        <a:buFontTx/>
                        <a:buNone/>
                        <a:tabLst/>
                        <a:defRPr/>
                      </a:pPr>
                      <a:endParaRPr lang="en-US" sz="900" b="0" i="0">
                        <a:solidFill>
                          <a:srgbClr val="000000"/>
                        </a:solidFill>
                        <a:effectLst/>
                        <a:latin typeface="Segoe UI" panose="020B05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Model Evaluation</a:t>
                      </a:r>
                    </a:p>
                    <a:p>
                      <a:r>
                        <a:rPr lang="en-US" sz="900">
                          <a:latin typeface="Arial"/>
                          <a:cs typeface="Arial"/>
                        </a:rPr>
                        <a:t>Which indicators require quality  control and validation and how  should they be interpreted? Is  real-time monitoring necessary?</a:t>
                      </a:r>
                    </a:p>
                    <a:p>
                      <a:endParaRPr lang="en-SG" sz="900">
                        <a:solidFill>
                          <a:srgbClr val="0070C0"/>
                        </a:solidFill>
                        <a:latin typeface="Arial" panose="020B0604020202020204" pitchFamily="34" charset="0"/>
                        <a:cs typeface="Arial" panose="020B0604020202020204" pitchFamily="34" charset="0"/>
                      </a:endParaRPr>
                    </a:p>
                    <a:p>
                      <a:pPr algn="l" rtl="0" fontAlgn="base">
                        <a:lnSpc>
                          <a:spcPts val="975"/>
                        </a:lnSpc>
                        <a:buNone/>
                      </a:pPr>
                      <a:r>
                        <a:rPr lang="en-SG" sz="800" b="0" i="0">
                          <a:solidFill>
                            <a:srgbClr val="0070C0"/>
                          </a:solidFill>
                          <a:effectLst/>
                          <a:latin typeface="Arial"/>
                          <a:cs typeface="Arial"/>
                        </a:rPr>
                        <a:t>Parameters: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Accuracy: To </a:t>
                      </a:r>
                      <a:r>
                        <a:rPr lang="en-SG" sz="800" b="0" i="0" u="none" strike="noStrike">
                          <a:solidFill>
                            <a:srgbClr val="0070C0"/>
                          </a:solidFill>
                          <a:effectLst/>
                          <a:latin typeface="Arial"/>
                          <a:cs typeface="Arial"/>
                        </a:rPr>
                        <a:t>Measure overall correctness of predictions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Precision, Recall, F1-score: To Measure trade-off between false positives and false negatives</a:t>
                      </a:r>
                      <a:r>
                        <a:rPr lang="en-SG"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Confusion Matrix: to show classification breakdown per class</a:t>
                      </a:r>
                      <a:r>
                        <a:rPr lang="en-SG"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AUC / ROC: To Measures ability to separate classes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Cross-Validation (K-Fold): Reduces overfitting by testing model on multiple folds</a:t>
                      </a:r>
                      <a:endParaRPr lang="en-US" sz="800" b="0" i="0">
                        <a:solidFill>
                          <a:srgbClr val="0070C0"/>
                        </a:solidFill>
                        <a:effectLst/>
                        <a:latin typeface="Arial"/>
                        <a:cs typeface="Arial"/>
                      </a:endParaRPr>
                    </a:p>
                    <a:p>
                      <a:endParaRPr lang="en-SG" sz="800">
                        <a:solidFill>
                          <a:srgbClr val="0070C0"/>
                        </a:solidFill>
                        <a:latin typeface="Arial" panose="020B0604020202020204" pitchFamily="34" charset="0"/>
                        <a:cs typeface="Arial" panose="020B0604020202020204" pitchFamily="34" charset="0"/>
                      </a:endParaRPr>
                    </a:p>
                    <a:p>
                      <a:r>
                        <a:rPr lang="en-SG" sz="800">
                          <a:solidFill>
                            <a:srgbClr val="0070C0"/>
                          </a:solidFill>
                          <a:latin typeface="Arial"/>
                          <a:cs typeface="Arial"/>
                        </a:rPr>
                        <a:t> - Real time monitoring can be done. The data we have has been split into training and testing part and then the validation has been done. In the test data we can add more columns which will be part of the test which will help with the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en-US" sz="900" b="1" kern="1200">
                          <a:solidFill>
                            <a:schemeClr val="tx1"/>
                          </a:solidFill>
                          <a:latin typeface="Arial"/>
                          <a:ea typeface="+mn-ea"/>
                          <a:cs typeface="Arial"/>
                        </a:rPr>
                        <a:t>Data Storytelling</a:t>
                      </a:r>
                    </a:p>
                    <a:p>
                      <a:pPr marL="0" indent="0">
                        <a:buFont typeface="Arial" panose="020B0604020202020204" pitchFamily="34" charset="0"/>
                        <a:buNone/>
                      </a:pPr>
                      <a:r>
                        <a:rPr lang="en-US" sz="900" kern="1200">
                          <a:solidFill>
                            <a:schemeClr val="tx1"/>
                          </a:solidFill>
                          <a:latin typeface="Arial"/>
                          <a:ea typeface="+mn-ea"/>
                          <a:cs typeface="Arial"/>
                        </a:rPr>
                        <a:t>What requirements does the target  group have for the presentation of  the results and how do I effectively  communicate this data?</a:t>
                      </a:r>
                    </a:p>
                    <a:p>
                      <a:pPr marL="0" indent="0">
                        <a:buFont typeface="Arial" panose="020B0604020202020204" pitchFamily="34" charset="0"/>
                        <a:buNone/>
                      </a:pPr>
                      <a:endParaRPr lang="en-SG" sz="900">
                        <a:solidFill>
                          <a:schemeClr val="accent2">
                            <a:lumMod val="75000"/>
                          </a:schemeClr>
                        </a:solidFill>
                        <a:latin typeface="Arial" panose="020B0604020202020204" pitchFamily="34" charset="0"/>
                        <a:cs typeface="Arial" panose="020B0604020202020204" pitchFamily="34" charset="0"/>
                      </a:endParaRPr>
                    </a:p>
                    <a:p>
                      <a:pPr marL="0" indent="0">
                        <a:buFontTx/>
                        <a:buNone/>
                      </a:pPr>
                      <a:r>
                        <a:rPr lang="en-SG" sz="800">
                          <a:solidFill>
                            <a:srgbClr val="0070C0"/>
                          </a:solidFill>
                          <a:latin typeface="Arial"/>
                          <a:cs typeface="Arial"/>
                        </a:rPr>
                        <a:t>The data is split between training, validation and testing </a:t>
                      </a:r>
                    </a:p>
                    <a:p>
                      <a:pPr marL="0" indent="0">
                        <a:buFontTx/>
                        <a:buNone/>
                      </a:pPr>
                      <a:endParaRPr lang="en-SG" sz="800">
                        <a:solidFill>
                          <a:srgbClr val="0070C0"/>
                        </a:solidFill>
                        <a:latin typeface="Arial" panose="020B0604020202020204" pitchFamily="34" charset="0"/>
                        <a:cs typeface="Arial" panose="020B0604020202020204" pitchFamily="34" charset="0"/>
                      </a:endParaRPr>
                    </a:p>
                    <a:p>
                      <a:pPr algn="l" rtl="0" fontAlgn="base">
                        <a:lnSpc>
                          <a:spcPts val="975"/>
                        </a:lnSpc>
                        <a:buNone/>
                      </a:pPr>
                      <a:r>
                        <a:rPr lang="en-SG" sz="800" b="0" i="0" u="none" strike="noStrike">
                          <a:solidFill>
                            <a:srgbClr val="0070C0"/>
                          </a:solidFill>
                          <a:effectLst/>
                          <a:latin typeface="Arial"/>
                          <a:cs typeface="Arial"/>
                        </a:rPr>
                        <a:t>Business Stakeholders / Executives: ROI and strategic insights.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Data Scientists / Technical Teams: Model performance, metrics, algorithms, assumptions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Operations / Product Teams: Usability, integration, process improvements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End Users / Clients: Reliability, benefits, user experience</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Regulators / Auditors: Fairness, transparency, compliance, data governance</a:t>
                      </a:r>
                      <a:endParaRPr lang="en-SG" sz="800" b="0" i="0">
                        <a:solidFill>
                          <a:srgbClr val="0070C0"/>
                        </a:solidFill>
                        <a:effectLst/>
                        <a:latin typeface="Arial"/>
                        <a:cs typeface="Arial"/>
                      </a:endParaRPr>
                    </a:p>
                    <a:p>
                      <a:pPr marL="0" indent="0">
                        <a:buFontTx/>
                        <a:buNone/>
                      </a:pPr>
                      <a:endParaRPr lang="en-SG" sz="800">
                        <a:solidFill>
                          <a:schemeClr val="accent2"/>
                        </a:solidFill>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SG" sz="900" b="0">
                        <a:solidFill>
                          <a:schemeClr val="accent2">
                            <a:lumMod val="75000"/>
                          </a:schemeClr>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Data Selection &amp; Cleansing</a:t>
                      </a:r>
                    </a:p>
                    <a:p>
                      <a:r>
                        <a:rPr lang="en-US" sz="900">
                          <a:latin typeface="Arial"/>
                          <a:cs typeface="Arial"/>
                        </a:rPr>
                        <a:t>Which of the available data is  relevant? Do the data have to  be cleaned up?</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SG" sz="900">
                          <a:solidFill>
                            <a:srgbClr val="0070C0"/>
                          </a:solidFill>
                          <a:latin typeface="Arial"/>
                          <a:cs typeface="Arial"/>
                        </a:rPr>
                        <a:t> The available dataset from Kaggle website is relevant. The data is huge and was difficult to compute. So, the data has to be cleaned up and taken in chunks.</a:t>
                      </a:r>
                      <a:r>
                        <a:rPr lang="en-SG" sz="900" b="0" i="0">
                          <a:solidFill>
                            <a:srgbClr val="0070C0"/>
                          </a:solidFill>
                          <a:effectLst/>
                          <a:latin typeface="Arial"/>
                        </a:rPr>
                        <a:t> necessary cleaning like handling missing values, removing unnecessary features, duplicates removal will be done. </a:t>
                      </a:r>
                      <a:endParaRPr lang="en-SG" sz="900">
                        <a:solidFill>
                          <a:srgbClr val="0070C0"/>
                        </a:solidFill>
                        <a:latin typeface="Arial"/>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Data Collection</a:t>
                      </a:r>
                    </a:p>
                    <a:p>
                      <a:r>
                        <a:rPr lang="en-US" sz="900">
                          <a:latin typeface="Arial"/>
                          <a:cs typeface="Arial"/>
                        </a:rPr>
                        <a:t>How and with which methods  should additionally required data  be collected? What properties has  this data to fulfil?</a:t>
                      </a:r>
                    </a:p>
                    <a:p>
                      <a:endParaRPr lang="en-SG" sz="900">
                        <a:solidFill>
                          <a:srgbClr val="0070C0"/>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 Created some additional features like Month, Season, Day of Weeks from existing dataset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3694948"/>
                  </a:ext>
                </a:extLst>
              </a:tr>
              <a:tr h="2734130">
                <a:tc>
                  <a:txBody>
                    <a:bodyPr/>
                    <a:lstStyle/>
                    <a:p>
                      <a:r>
                        <a:rPr lang="en-US" sz="900" b="1">
                          <a:latin typeface="Arial"/>
                          <a:cs typeface="Arial"/>
                        </a:rPr>
                        <a:t>Data Landscape</a:t>
                      </a:r>
                    </a:p>
                    <a:p>
                      <a:r>
                        <a:rPr lang="en-US" sz="900">
                          <a:latin typeface="Arial"/>
                          <a:cs typeface="Arial"/>
                        </a:rPr>
                        <a:t>Which data is required for this and  which is already available? Which  additional data has to be collected?</a:t>
                      </a:r>
                    </a:p>
                    <a:p>
                      <a:endParaRPr lang="en-US" sz="900">
                        <a:latin typeface="Arial" panose="020B0604020202020204" pitchFamily="34" charset="0"/>
                        <a:cs typeface="Arial" panose="020B0604020202020204" pitchFamily="34" charset="0"/>
                      </a:endParaRPr>
                    </a:p>
                    <a:p>
                      <a:r>
                        <a:rPr lang="en-SG" sz="800" b="0" i="0">
                          <a:solidFill>
                            <a:srgbClr val="0070C0"/>
                          </a:solidFill>
                          <a:effectLst/>
                          <a:latin typeface="Arial"/>
                          <a:cs typeface="Arial"/>
                        </a:rPr>
                        <a:t>Need data which includes the features like </a:t>
                      </a:r>
                      <a:r>
                        <a:rPr lang="en-SG" sz="800" b="0" i="0" u="none" strike="noStrike">
                          <a:solidFill>
                            <a:srgbClr val="0070C0"/>
                          </a:solidFill>
                          <a:effectLst/>
                          <a:latin typeface="Arial"/>
                          <a:cs typeface="Arial"/>
                        </a:rPr>
                        <a:t>Temperature, Wind Chill, Humidity(%),Pressure(in),Visibility(mi),Win Direction, WindSpeed(mph),Precipitation, Weather Condition, Amenity, Bump, Crossing etc. </a:t>
                      </a:r>
                    </a:p>
                    <a:p>
                      <a:endParaRPr lang="en-SG" sz="800" b="0" i="0" u="none" strike="noStrike">
                        <a:solidFill>
                          <a:srgbClr val="0070C0"/>
                        </a:solidFill>
                        <a:effectLst/>
                        <a:latin typeface="Arial" panose="020B0604020202020204" pitchFamily="34" charset="0"/>
                        <a:cs typeface="Arial" panose="020B0604020202020204" pitchFamily="34" charset="0"/>
                      </a:endParaRPr>
                    </a:p>
                    <a:p>
                      <a:r>
                        <a:rPr lang="en-SG" sz="800" b="0" i="0" u="none" strike="noStrike">
                          <a:solidFill>
                            <a:srgbClr val="0070C0"/>
                          </a:solidFill>
                          <a:effectLst/>
                          <a:latin typeface="Arial"/>
                          <a:cs typeface="Arial"/>
                        </a:rPr>
                        <a:t>Mostly available in one dataset.</a:t>
                      </a:r>
                      <a:r>
                        <a:rPr lang="en-US" sz="800">
                          <a:solidFill>
                            <a:srgbClr val="0070C0"/>
                          </a:solidFill>
                          <a:latin typeface="Arial"/>
                          <a:cs typeface="Arial"/>
                        </a:rPr>
                        <a:t> Craeted some additional features like Month, Season</a:t>
                      </a:r>
                    </a:p>
                    <a:p>
                      <a:endParaRPr lang="en-SG" sz="9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a:txBody>
                    <a:bodyPr/>
                    <a:lstStyle/>
                    <a:p>
                      <a:r>
                        <a:rPr lang="en-US" sz="900" b="1">
                          <a:latin typeface="Arial"/>
                          <a:cs typeface="Arial"/>
                        </a:rPr>
                        <a:t>Software &amp; Libraries</a:t>
                      </a:r>
                    </a:p>
                    <a:p>
                      <a:r>
                        <a:rPr lang="en-US" sz="900">
                          <a:latin typeface="Arial"/>
                          <a:cs typeface="Arial"/>
                        </a:rPr>
                        <a:t>Which software should be used? Is  there already a standard solution?  Which libraries are used?</a:t>
                      </a:r>
                    </a:p>
                    <a:p>
                      <a:endParaRPr lang="en-SG" sz="900">
                        <a:latin typeface="Arial" panose="020B0604020202020204" pitchFamily="34" charset="0"/>
                        <a:cs typeface="Arial" panose="020B0604020202020204" pitchFamily="34" charset="0"/>
                      </a:endParaRPr>
                    </a:p>
                    <a:p>
                      <a:r>
                        <a:rPr lang="en-SG" sz="800">
                          <a:solidFill>
                            <a:srgbClr val="0070C0"/>
                          </a:solidFill>
                          <a:latin typeface="Arial"/>
                          <a:cs typeface="Arial"/>
                        </a:rPr>
                        <a:t> - Python, pandas, sklearn, matplotlib, seaborn, </a:t>
                      </a:r>
                    </a:p>
                    <a:p>
                      <a:r>
                        <a:rPr lang="en-SG" sz="800">
                          <a:solidFill>
                            <a:srgbClr val="0070C0"/>
                          </a:solidFill>
                          <a:latin typeface="Arial"/>
                          <a:cs typeface="Arial"/>
                        </a:rPr>
                        <a:t>The results are showcased in streamlit dashboard </a:t>
                      </a:r>
                    </a:p>
                    <a:p>
                      <a:endParaRPr lang="en-SG" sz="900">
                        <a:solidFill>
                          <a:srgbClr val="0070C0"/>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vMerge="1">
                  <a:txBody>
                    <a:bodyPr/>
                    <a:lstStyle/>
                    <a:p>
                      <a:endParaRPr lang="en-SG" sz="1000">
                        <a:latin typeface="Arial" panose="020B0604020202020204" pitchFamily="34" charset="0"/>
                        <a:cs typeface="Arial" panose="020B0604020202020204" pitchFamily="34" charset="0"/>
                      </a:endParaRPr>
                    </a:p>
                  </a:txBody>
                  <a:tcPr/>
                </a:tc>
                <a:tc vMerge="1">
                  <a:txBody>
                    <a:bodyPr/>
                    <a:lstStyle/>
                    <a:p>
                      <a:endParaRPr lang="en-SG" sz="1000">
                        <a:latin typeface="Arial" panose="020B0604020202020204" pitchFamily="34" charset="0"/>
                        <a:cs typeface="Arial" panose="020B0604020202020204" pitchFamily="34" charset="0"/>
                      </a:endParaRPr>
                    </a:p>
                  </a:txBody>
                  <a:tcPr/>
                </a:tc>
                <a:tc>
                  <a:txBody>
                    <a:bodyPr/>
                    <a:lstStyle/>
                    <a:p>
                      <a:r>
                        <a:rPr lang="en-US" sz="900" b="1">
                          <a:latin typeface="Arial"/>
                          <a:cs typeface="Arial"/>
                        </a:rPr>
                        <a:t>Data Integration</a:t>
                      </a:r>
                    </a:p>
                    <a:p>
                      <a:r>
                        <a:rPr lang="en-US" sz="900">
                          <a:latin typeface="Arial"/>
                          <a:cs typeface="Arial"/>
                        </a:rPr>
                        <a:t>In which system should the data  from different sources be migrated?</a:t>
                      </a:r>
                    </a:p>
                    <a:p>
                      <a:endParaRPr lang="en-SG" sz="900">
                        <a:solidFill>
                          <a:schemeClr val="accent2">
                            <a:lumMod val="75000"/>
                          </a:schemeClr>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 VS Code &amp; Google Drive as Colab need to be used because of high memory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Explorative Data Analysis</a:t>
                      </a:r>
                    </a:p>
                    <a:p>
                      <a:r>
                        <a:rPr lang="en-US" sz="900">
                          <a:latin typeface="Arial"/>
                          <a:cs typeface="Arial"/>
                        </a:rPr>
                        <a:t>Are there outliers or structures to be  considered? Creation of descriptive  key figures for the first assessment  of the data.</a:t>
                      </a:r>
                    </a:p>
                    <a:p>
                      <a:endParaRPr lang="en-SG" sz="900">
                        <a:latin typeface="Arial" panose="020B0604020202020204" pitchFamily="34" charset="0"/>
                        <a:cs typeface="Arial" panose="020B0604020202020204" pitchFamily="34" charset="0"/>
                      </a:endParaRPr>
                    </a:p>
                    <a:p>
                      <a:r>
                        <a:rPr lang="en-SG" sz="900">
                          <a:latin typeface="Arial"/>
                          <a:cs typeface="Arial"/>
                        </a:rPr>
                        <a:t> </a:t>
                      </a:r>
                      <a:r>
                        <a:rPr lang="en-SG" sz="900">
                          <a:solidFill>
                            <a:srgbClr val="0070C0"/>
                          </a:solidFill>
                          <a:latin typeface="Arial"/>
                          <a:cs typeface="Arial"/>
                        </a:rPr>
                        <a:t>- There are no outliers. The EDA is present in the .ipynb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1979306"/>
                  </a:ext>
                </a:extLst>
              </a:tr>
            </a:tbl>
          </a:graphicData>
        </a:graphic>
      </p:graphicFrame>
    </p:spTree>
    <p:extLst>
      <p:ext uri="{BB962C8B-B14F-4D97-AF65-F5344CB8AC3E}">
        <p14:creationId xmlns:p14="http://schemas.microsoft.com/office/powerpoint/2010/main" val="3638312931"/>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819</Words>
  <Application>Microsoft Office PowerPoint</Application>
  <PresentationFormat>Widescreen</PresentationFormat>
  <Paragraphs>104</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Aptos</vt:lpstr>
      <vt:lpstr>Arial</vt:lpstr>
      <vt:lpstr>Calibri</vt:lpstr>
      <vt:lpstr>Graphik Light</vt:lpstr>
      <vt:lpstr>Graphik Regular</vt:lpstr>
      <vt:lpstr>Graphik Semibold</vt:lpstr>
      <vt:lpstr>Graphik Thin</vt:lpstr>
      <vt:lpstr>Segoe UI</vt:lpstr>
      <vt:lpstr>Times New Roman</vt:lpstr>
      <vt:lpstr>Retrospect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Roupyajay Bhattacharya</cp:lastModifiedBy>
  <cp:revision>3</cp:revision>
  <dcterms:created xsi:type="dcterms:W3CDTF">2025-11-27T08:37:46Z</dcterms:created>
  <dcterms:modified xsi:type="dcterms:W3CDTF">2025-12-02T05:16:31Z</dcterms:modified>
</cp:coreProperties>
</file>