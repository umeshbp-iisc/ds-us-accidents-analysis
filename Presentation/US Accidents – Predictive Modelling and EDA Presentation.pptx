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8"/>
  </p:notesMasterIdLst>
  <p:sldIdLst>
    <p:sldId id="1593" r:id="rId2"/>
    <p:sldId id="1578" r:id="rId3"/>
    <p:sldId id="1617" r:id="rId4"/>
    <p:sldId id="1618" r:id="rId5"/>
    <p:sldId id="1620" r:id="rId6"/>
    <p:sldId id="1611" r:id="rId7"/>
    <p:sldId id="1622" r:id="rId8"/>
    <p:sldId id="1626" r:id="rId9"/>
    <p:sldId id="1627" r:id="rId10"/>
    <p:sldId id="1612" r:id="rId11"/>
    <p:sldId id="1609" r:id="rId12"/>
    <p:sldId id="1608" r:id="rId13"/>
    <p:sldId id="1625" r:id="rId14"/>
    <p:sldId id="1624" r:id="rId15"/>
    <p:sldId id="1623" r:id="rId16"/>
    <p:sldId id="16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E3384D-9AF4-C943-50D4-31F7B2135AEF}" v="96" dt="2025-11-30T16:37:56.935"/>
    <p1510:client id="{393C845D-40E6-47D0-23BA-F0755935EE85}" v="134" dt="2025-11-30T13:52:43.075"/>
    <p1510:client id="{3BA66BEA-70FC-7A67-0B52-DCEA94C69369}" v="58" dt="2025-12-02T05:33:57.461"/>
    <p1510:client id="{4A60DDA9-C46C-408F-D421-05E721265203}" v="575" dt="2025-12-01T12:13:54.111"/>
    <p1510:client id="{4B1FE6DD-8753-3998-E878-59B79C0BB9F0}" v="11" dt="2025-12-01T03:53:52.874"/>
    <p1510:client id="{4C00E7EA-5BA5-7693-9FD6-A519BA4F73AF}" v="227" dt="2025-11-30T15:49:05.819"/>
    <p1510:client id="{5C77D25B-AC19-EF04-A0CA-A613E9D60F68}" v="11" dt="2025-12-01T13:04:14.539"/>
    <p1510:client id="{7A09635B-1A68-EDE5-B1E2-C94E658A27C4}" v="1158" dt="2025-12-01T08:43:47.396"/>
    <p1510:client id="{861EB65E-7336-F44C-9F16-9DD0305ABC5D}" v="2" dt="2025-12-02T07:15:12.384"/>
    <p1510:client id="{87BBC617-4B3A-403B-BF1F-6CE65E8389EB}" v="206" dt="2025-12-01T12:10:26.551"/>
    <p1510:client id="{8DC5A2F4-F762-32C8-584E-8B868E319762}" v="5" dt="2025-12-01T10:39:21.670"/>
    <p1510:client id="{A8F0C6B8-27FA-5BB6-CCB7-FE47697A7112}" v="17" dt="2025-11-30T16:10:11.2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80B06F-6672-4424-AAEF-568E5FA45F7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F17B893D-7B9B-417C-8452-7A29AABFAF71}">
      <dgm:prSet/>
      <dgm:spPr/>
      <dgm:t>
        <a:bodyPr/>
        <a:lstStyle/>
        <a:p>
          <a:pPr>
            <a:lnSpc>
              <a:spcPct val="100000"/>
            </a:lnSpc>
          </a:pPr>
          <a:r>
            <a:rPr lang="en-US"/>
            <a:t>A set of different EDA techniques were deployed to analyze the data.</a:t>
          </a:r>
        </a:p>
      </dgm:t>
    </dgm:pt>
    <dgm:pt modelId="{B6D4F1EE-03F9-411D-A5D9-1B945C9B7421}" type="parTrans" cxnId="{15B57120-89CD-491F-9006-C31D9AA51065}">
      <dgm:prSet/>
      <dgm:spPr/>
      <dgm:t>
        <a:bodyPr/>
        <a:lstStyle/>
        <a:p>
          <a:endParaRPr lang="en-US"/>
        </a:p>
      </dgm:t>
    </dgm:pt>
    <dgm:pt modelId="{D6D109A0-E24F-4451-A751-470C45D32A81}" type="sibTrans" cxnId="{15B57120-89CD-491F-9006-C31D9AA51065}">
      <dgm:prSet/>
      <dgm:spPr/>
      <dgm:t>
        <a:bodyPr/>
        <a:lstStyle/>
        <a:p>
          <a:endParaRPr lang="en-US"/>
        </a:p>
      </dgm:t>
    </dgm:pt>
    <dgm:pt modelId="{94934853-3918-4770-852A-A13FD6ABFFA7}">
      <dgm:prSet/>
      <dgm:spPr/>
      <dgm:t>
        <a:bodyPr/>
        <a:lstStyle/>
        <a:p>
          <a:pPr>
            <a:lnSpc>
              <a:spcPct val="100000"/>
            </a:lnSpc>
          </a:pPr>
          <a:r>
            <a:rPr lang="en-US"/>
            <a:t>Univariate analysis: Performed on the "Severity column"</a:t>
          </a:r>
        </a:p>
      </dgm:t>
    </dgm:pt>
    <dgm:pt modelId="{986A6141-DD39-48E4-B7B6-2A704FC7FF27}" type="parTrans" cxnId="{5B22976B-B705-46F0-8FDA-6FF9FA743889}">
      <dgm:prSet/>
      <dgm:spPr/>
      <dgm:t>
        <a:bodyPr/>
        <a:lstStyle/>
        <a:p>
          <a:endParaRPr lang="en-US"/>
        </a:p>
      </dgm:t>
    </dgm:pt>
    <dgm:pt modelId="{551C0F57-E37E-40D2-A9D5-AF25B858AE6C}" type="sibTrans" cxnId="{5B22976B-B705-46F0-8FDA-6FF9FA743889}">
      <dgm:prSet/>
      <dgm:spPr/>
      <dgm:t>
        <a:bodyPr/>
        <a:lstStyle/>
        <a:p>
          <a:endParaRPr lang="en-US"/>
        </a:p>
      </dgm:t>
    </dgm:pt>
    <dgm:pt modelId="{09AE14DC-EFAB-42F8-ADA0-4034998A107D}">
      <dgm:prSet/>
      <dgm:spPr/>
      <dgm:t>
        <a:bodyPr/>
        <a:lstStyle/>
        <a:p>
          <a:pPr>
            <a:lnSpc>
              <a:spcPct val="100000"/>
            </a:lnSpc>
          </a:pPr>
          <a:r>
            <a:rPr lang="en-US"/>
            <a:t>Insights:</a:t>
          </a:r>
          <a:r>
            <a:rPr lang="en-US">
              <a:latin typeface="Calibri Light" panose="020F0302020204030204"/>
            </a:rPr>
            <a:t> Imbalanced data. Severity 2 dominates</a:t>
          </a:r>
          <a:endParaRPr lang="en-US"/>
        </a:p>
      </dgm:t>
    </dgm:pt>
    <dgm:pt modelId="{05797AF7-7C28-4E20-9537-F4C6763165C2}" type="parTrans" cxnId="{E84EABF5-CA11-46AD-B38A-48107A9C9027}">
      <dgm:prSet/>
      <dgm:spPr/>
      <dgm:t>
        <a:bodyPr/>
        <a:lstStyle/>
        <a:p>
          <a:endParaRPr lang="en-US"/>
        </a:p>
      </dgm:t>
    </dgm:pt>
    <dgm:pt modelId="{ADE85C1A-1900-42FC-87A4-13B94F699ADF}" type="sibTrans" cxnId="{E84EABF5-CA11-46AD-B38A-48107A9C9027}">
      <dgm:prSet/>
      <dgm:spPr/>
      <dgm:t>
        <a:bodyPr/>
        <a:lstStyle/>
        <a:p>
          <a:endParaRPr lang="en-US"/>
        </a:p>
      </dgm:t>
    </dgm:pt>
    <dgm:pt modelId="{9F448095-DE97-48F9-946F-B3FA19E4CD07}" type="pres">
      <dgm:prSet presAssocID="{0E80B06F-6672-4424-AAEF-568E5FA45F70}" presName="root" presStyleCnt="0">
        <dgm:presLayoutVars>
          <dgm:dir/>
          <dgm:resizeHandles val="exact"/>
        </dgm:presLayoutVars>
      </dgm:prSet>
      <dgm:spPr/>
    </dgm:pt>
    <dgm:pt modelId="{D0E9E3C1-81D4-436B-BB43-2A75A6AF6E32}" type="pres">
      <dgm:prSet presAssocID="{F17B893D-7B9B-417C-8452-7A29AABFAF71}" presName="compNode" presStyleCnt="0"/>
      <dgm:spPr/>
    </dgm:pt>
    <dgm:pt modelId="{01E3248D-3449-4E69-869F-82A6AFB84DAD}" type="pres">
      <dgm:prSet presAssocID="{F17B893D-7B9B-417C-8452-7A29AABFAF7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69D53B7A-E82E-4CEC-9793-11F03AA5660C}" type="pres">
      <dgm:prSet presAssocID="{F17B893D-7B9B-417C-8452-7A29AABFAF71}" presName="spaceRect" presStyleCnt="0"/>
      <dgm:spPr/>
    </dgm:pt>
    <dgm:pt modelId="{4989B77C-E382-4FF6-AAAA-4AEB64D5F020}" type="pres">
      <dgm:prSet presAssocID="{F17B893D-7B9B-417C-8452-7A29AABFAF71}" presName="textRect" presStyleLbl="revTx" presStyleIdx="0" presStyleCnt="3">
        <dgm:presLayoutVars>
          <dgm:chMax val="1"/>
          <dgm:chPref val="1"/>
        </dgm:presLayoutVars>
      </dgm:prSet>
      <dgm:spPr/>
    </dgm:pt>
    <dgm:pt modelId="{D9001EC4-4C31-4757-B5A2-820CBC39F1BA}" type="pres">
      <dgm:prSet presAssocID="{D6D109A0-E24F-4451-A751-470C45D32A81}" presName="sibTrans" presStyleCnt="0"/>
      <dgm:spPr/>
    </dgm:pt>
    <dgm:pt modelId="{3EBF48B9-EBFA-4919-9738-3472C0B7868F}" type="pres">
      <dgm:prSet presAssocID="{94934853-3918-4770-852A-A13FD6ABFFA7}" presName="compNode" presStyleCnt="0"/>
      <dgm:spPr/>
    </dgm:pt>
    <dgm:pt modelId="{52FFDDBB-F736-48B4-886E-A503E74E2AAE}" type="pres">
      <dgm:prSet presAssocID="{94934853-3918-4770-852A-A13FD6ABFFA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ubtitles"/>
        </a:ext>
      </dgm:extLst>
    </dgm:pt>
    <dgm:pt modelId="{1CB7C4BA-0B58-4AE2-A5F8-03B0C72E966F}" type="pres">
      <dgm:prSet presAssocID="{94934853-3918-4770-852A-A13FD6ABFFA7}" presName="spaceRect" presStyleCnt="0"/>
      <dgm:spPr/>
    </dgm:pt>
    <dgm:pt modelId="{F1B00FD3-5679-4CB2-85DC-74B82211DF51}" type="pres">
      <dgm:prSet presAssocID="{94934853-3918-4770-852A-A13FD6ABFFA7}" presName="textRect" presStyleLbl="revTx" presStyleIdx="1" presStyleCnt="3">
        <dgm:presLayoutVars>
          <dgm:chMax val="1"/>
          <dgm:chPref val="1"/>
        </dgm:presLayoutVars>
      </dgm:prSet>
      <dgm:spPr/>
    </dgm:pt>
    <dgm:pt modelId="{0C0AE5AB-320F-4023-A275-8A74CD453CC8}" type="pres">
      <dgm:prSet presAssocID="{551C0F57-E37E-40D2-A9D5-AF25B858AE6C}" presName="sibTrans" presStyleCnt="0"/>
      <dgm:spPr/>
    </dgm:pt>
    <dgm:pt modelId="{306707EF-6C65-48D4-8279-78DDBD0BC221}" type="pres">
      <dgm:prSet presAssocID="{09AE14DC-EFAB-42F8-ADA0-4034998A107D}" presName="compNode" presStyleCnt="0"/>
      <dgm:spPr/>
    </dgm:pt>
    <dgm:pt modelId="{EF679BEF-EC5A-4149-AE62-BA160AB790F6}" type="pres">
      <dgm:prSet presAssocID="{09AE14DC-EFAB-42F8-ADA0-4034998A107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ightbulb"/>
        </a:ext>
      </dgm:extLst>
    </dgm:pt>
    <dgm:pt modelId="{C8C7A8D7-5431-447A-AB22-789F9BD3B1B1}" type="pres">
      <dgm:prSet presAssocID="{09AE14DC-EFAB-42F8-ADA0-4034998A107D}" presName="spaceRect" presStyleCnt="0"/>
      <dgm:spPr/>
    </dgm:pt>
    <dgm:pt modelId="{60B6A3AD-C103-4B39-8B6A-89A4938FA874}" type="pres">
      <dgm:prSet presAssocID="{09AE14DC-EFAB-42F8-ADA0-4034998A107D}" presName="textRect" presStyleLbl="revTx" presStyleIdx="2" presStyleCnt="3">
        <dgm:presLayoutVars>
          <dgm:chMax val="1"/>
          <dgm:chPref val="1"/>
        </dgm:presLayoutVars>
      </dgm:prSet>
      <dgm:spPr/>
    </dgm:pt>
  </dgm:ptLst>
  <dgm:cxnLst>
    <dgm:cxn modelId="{A998751E-4F60-4FFA-949C-AAF173780482}" type="presOf" srcId="{09AE14DC-EFAB-42F8-ADA0-4034998A107D}" destId="{60B6A3AD-C103-4B39-8B6A-89A4938FA874}" srcOrd="0" destOrd="0" presId="urn:microsoft.com/office/officeart/2018/2/layout/IconLabelList"/>
    <dgm:cxn modelId="{15B57120-89CD-491F-9006-C31D9AA51065}" srcId="{0E80B06F-6672-4424-AAEF-568E5FA45F70}" destId="{F17B893D-7B9B-417C-8452-7A29AABFAF71}" srcOrd="0" destOrd="0" parTransId="{B6D4F1EE-03F9-411D-A5D9-1B945C9B7421}" sibTransId="{D6D109A0-E24F-4451-A751-470C45D32A81}"/>
    <dgm:cxn modelId="{7D0AF03E-1126-483F-BF16-9261D6DE82CC}" type="presOf" srcId="{F17B893D-7B9B-417C-8452-7A29AABFAF71}" destId="{4989B77C-E382-4FF6-AAAA-4AEB64D5F020}" srcOrd="0" destOrd="0" presId="urn:microsoft.com/office/officeart/2018/2/layout/IconLabelList"/>
    <dgm:cxn modelId="{F998B768-9A56-4EEF-B4F6-AB557D909CCF}" type="presOf" srcId="{94934853-3918-4770-852A-A13FD6ABFFA7}" destId="{F1B00FD3-5679-4CB2-85DC-74B82211DF51}" srcOrd="0" destOrd="0" presId="urn:microsoft.com/office/officeart/2018/2/layout/IconLabelList"/>
    <dgm:cxn modelId="{22D36C49-B19D-4923-9CD1-9CA2C1570300}" type="presOf" srcId="{0E80B06F-6672-4424-AAEF-568E5FA45F70}" destId="{9F448095-DE97-48F9-946F-B3FA19E4CD07}" srcOrd="0" destOrd="0" presId="urn:microsoft.com/office/officeart/2018/2/layout/IconLabelList"/>
    <dgm:cxn modelId="{5B22976B-B705-46F0-8FDA-6FF9FA743889}" srcId="{0E80B06F-6672-4424-AAEF-568E5FA45F70}" destId="{94934853-3918-4770-852A-A13FD6ABFFA7}" srcOrd="1" destOrd="0" parTransId="{986A6141-DD39-48E4-B7B6-2A704FC7FF27}" sibTransId="{551C0F57-E37E-40D2-A9D5-AF25B858AE6C}"/>
    <dgm:cxn modelId="{E84EABF5-CA11-46AD-B38A-48107A9C9027}" srcId="{0E80B06F-6672-4424-AAEF-568E5FA45F70}" destId="{09AE14DC-EFAB-42F8-ADA0-4034998A107D}" srcOrd="2" destOrd="0" parTransId="{05797AF7-7C28-4E20-9537-F4C6763165C2}" sibTransId="{ADE85C1A-1900-42FC-87A4-13B94F699ADF}"/>
    <dgm:cxn modelId="{D30C9A9E-2460-4B0E-A6FE-71487B1D350C}" type="presParOf" srcId="{9F448095-DE97-48F9-946F-B3FA19E4CD07}" destId="{D0E9E3C1-81D4-436B-BB43-2A75A6AF6E32}" srcOrd="0" destOrd="0" presId="urn:microsoft.com/office/officeart/2018/2/layout/IconLabelList"/>
    <dgm:cxn modelId="{15F3DB4D-11DF-44CD-AE6C-32B0F5E10AFE}" type="presParOf" srcId="{D0E9E3C1-81D4-436B-BB43-2A75A6AF6E32}" destId="{01E3248D-3449-4E69-869F-82A6AFB84DAD}" srcOrd="0" destOrd="0" presId="urn:microsoft.com/office/officeart/2018/2/layout/IconLabelList"/>
    <dgm:cxn modelId="{B2FA468A-D7F3-43FA-92AB-742E9E0BCF92}" type="presParOf" srcId="{D0E9E3C1-81D4-436B-BB43-2A75A6AF6E32}" destId="{69D53B7A-E82E-4CEC-9793-11F03AA5660C}" srcOrd="1" destOrd="0" presId="urn:microsoft.com/office/officeart/2018/2/layout/IconLabelList"/>
    <dgm:cxn modelId="{1BFE0DAA-695A-4F20-A3FE-8CA297FF9956}" type="presParOf" srcId="{D0E9E3C1-81D4-436B-BB43-2A75A6AF6E32}" destId="{4989B77C-E382-4FF6-AAAA-4AEB64D5F020}" srcOrd="2" destOrd="0" presId="urn:microsoft.com/office/officeart/2018/2/layout/IconLabelList"/>
    <dgm:cxn modelId="{AD0C759A-A728-4414-B827-FE6AA9AC140A}" type="presParOf" srcId="{9F448095-DE97-48F9-946F-B3FA19E4CD07}" destId="{D9001EC4-4C31-4757-B5A2-820CBC39F1BA}" srcOrd="1" destOrd="0" presId="urn:microsoft.com/office/officeart/2018/2/layout/IconLabelList"/>
    <dgm:cxn modelId="{9A09AFF2-41DF-43E0-9EFE-1E91DBFFF040}" type="presParOf" srcId="{9F448095-DE97-48F9-946F-B3FA19E4CD07}" destId="{3EBF48B9-EBFA-4919-9738-3472C0B7868F}" srcOrd="2" destOrd="0" presId="urn:microsoft.com/office/officeart/2018/2/layout/IconLabelList"/>
    <dgm:cxn modelId="{6623941B-BA33-46E0-98E4-FBD04E1C8183}" type="presParOf" srcId="{3EBF48B9-EBFA-4919-9738-3472C0B7868F}" destId="{52FFDDBB-F736-48B4-886E-A503E74E2AAE}" srcOrd="0" destOrd="0" presId="urn:microsoft.com/office/officeart/2018/2/layout/IconLabelList"/>
    <dgm:cxn modelId="{508910A7-40ED-45ED-999E-81C077440602}" type="presParOf" srcId="{3EBF48B9-EBFA-4919-9738-3472C0B7868F}" destId="{1CB7C4BA-0B58-4AE2-A5F8-03B0C72E966F}" srcOrd="1" destOrd="0" presId="urn:microsoft.com/office/officeart/2018/2/layout/IconLabelList"/>
    <dgm:cxn modelId="{7A36E62F-35F4-43B5-85B1-94AC7D0DE529}" type="presParOf" srcId="{3EBF48B9-EBFA-4919-9738-3472C0B7868F}" destId="{F1B00FD3-5679-4CB2-85DC-74B82211DF51}" srcOrd="2" destOrd="0" presId="urn:microsoft.com/office/officeart/2018/2/layout/IconLabelList"/>
    <dgm:cxn modelId="{6F6817EC-C63B-4306-B8A1-0E285F559A7F}" type="presParOf" srcId="{9F448095-DE97-48F9-946F-B3FA19E4CD07}" destId="{0C0AE5AB-320F-4023-A275-8A74CD453CC8}" srcOrd="3" destOrd="0" presId="urn:microsoft.com/office/officeart/2018/2/layout/IconLabelList"/>
    <dgm:cxn modelId="{19C1CE04-C863-44B6-A3D8-D70F619CC600}" type="presParOf" srcId="{9F448095-DE97-48F9-946F-B3FA19E4CD07}" destId="{306707EF-6C65-48D4-8279-78DDBD0BC221}" srcOrd="4" destOrd="0" presId="urn:microsoft.com/office/officeart/2018/2/layout/IconLabelList"/>
    <dgm:cxn modelId="{5826DDBF-8A95-4A6A-81FC-B7E3157D24D2}" type="presParOf" srcId="{306707EF-6C65-48D4-8279-78DDBD0BC221}" destId="{EF679BEF-EC5A-4149-AE62-BA160AB790F6}" srcOrd="0" destOrd="0" presId="urn:microsoft.com/office/officeart/2018/2/layout/IconLabelList"/>
    <dgm:cxn modelId="{FBE8D2E6-8B90-46EE-A010-68742D531343}" type="presParOf" srcId="{306707EF-6C65-48D4-8279-78DDBD0BC221}" destId="{C8C7A8D7-5431-447A-AB22-789F9BD3B1B1}" srcOrd="1" destOrd="0" presId="urn:microsoft.com/office/officeart/2018/2/layout/IconLabelList"/>
    <dgm:cxn modelId="{69330472-06FC-4381-AB16-F5C4ECE465A7}" type="presParOf" srcId="{306707EF-6C65-48D4-8279-78DDBD0BC221}" destId="{60B6A3AD-C103-4B39-8B6A-89A4938FA87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E3248D-3449-4E69-869F-82A6AFB84DAD}">
      <dsp:nvSpPr>
        <dsp:cNvPr id="0" name=""/>
        <dsp:cNvSpPr/>
      </dsp:nvSpPr>
      <dsp:spPr>
        <a:xfrm>
          <a:off x="1121220" y="298492"/>
          <a:ext cx="1047701" cy="10477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89B77C-E382-4FF6-AAAA-4AEB64D5F020}">
      <dsp:nvSpPr>
        <dsp:cNvPr id="0" name=""/>
        <dsp:cNvSpPr/>
      </dsp:nvSpPr>
      <dsp:spPr>
        <a:xfrm>
          <a:off x="480958" y="1667633"/>
          <a:ext cx="232822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A set of different EDA techniques were deployed to analyze the data.</a:t>
          </a:r>
        </a:p>
      </dsp:txBody>
      <dsp:txXfrm>
        <a:off x="480958" y="1667633"/>
        <a:ext cx="2328226" cy="720000"/>
      </dsp:txXfrm>
    </dsp:sp>
    <dsp:sp modelId="{52FFDDBB-F736-48B4-886E-A503E74E2AAE}">
      <dsp:nvSpPr>
        <dsp:cNvPr id="0" name=""/>
        <dsp:cNvSpPr/>
      </dsp:nvSpPr>
      <dsp:spPr>
        <a:xfrm>
          <a:off x="3856886" y="298492"/>
          <a:ext cx="1047701" cy="10477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B00FD3-5679-4CB2-85DC-74B82211DF51}">
      <dsp:nvSpPr>
        <dsp:cNvPr id="0" name=""/>
        <dsp:cNvSpPr/>
      </dsp:nvSpPr>
      <dsp:spPr>
        <a:xfrm>
          <a:off x="3216624" y="1667633"/>
          <a:ext cx="232822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Univariate analysis: Performed on the "Severity column"</a:t>
          </a:r>
        </a:p>
      </dsp:txBody>
      <dsp:txXfrm>
        <a:off x="3216624" y="1667633"/>
        <a:ext cx="2328226" cy="720000"/>
      </dsp:txXfrm>
    </dsp:sp>
    <dsp:sp modelId="{EF679BEF-EC5A-4149-AE62-BA160AB790F6}">
      <dsp:nvSpPr>
        <dsp:cNvPr id="0" name=""/>
        <dsp:cNvSpPr/>
      </dsp:nvSpPr>
      <dsp:spPr>
        <a:xfrm>
          <a:off x="2489053" y="2969690"/>
          <a:ext cx="1047701" cy="10477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B6A3AD-C103-4B39-8B6A-89A4938FA874}">
      <dsp:nvSpPr>
        <dsp:cNvPr id="0" name=""/>
        <dsp:cNvSpPr/>
      </dsp:nvSpPr>
      <dsp:spPr>
        <a:xfrm>
          <a:off x="1848791" y="4338831"/>
          <a:ext cx="232822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a:t>Insights:</a:t>
          </a:r>
          <a:r>
            <a:rPr lang="en-US" sz="1500" kern="1200">
              <a:latin typeface="Calibri Light" panose="020F0302020204030204"/>
            </a:rPr>
            <a:t> Imbalanced data. Severity 2 dominates</a:t>
          </a:r>
          <a:endParaRPr lang="en-US" sz="1500" kern="1200"/>
        </a:p>
      </dsp:txBody>
      <dsp:txXfrm>
        <a:off x="1848791" y="4338831"/>
        <a:ext cx="2328226"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9237E0-4430-4753-A6DD-DBA12CC12699}" type="datetimeFigureOut">
              <a:rPr lang="en-IN" smtClean="0"/>
              <a:t>01-12-2025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47348A-434F-45D4-8996-1779BC2F06B1}" type="slidenum">
              <a:rPr lang="en-IN" smtClean="0"/>
              <a:t>‹#›</a:t>
            </a:fld>
            <a:endParaRPr lang="en-IN"/>
          </a:p>
        </p:txBody>
      </p:sp>
    </p:spTree>
    <p:extLst>
      <p:ext uri="{BB962C8B-B14F-4D97-AF65-F5344CB8AC3E}">
        <p14:creationId xmlns:p14="http://schemas.microsoft.com/office/powerpoint/2010/main" val="4118041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47348A-434F-45D4-8996-1779BC2F06B1}" type="slidenum">
              <a:rPr lang="en-IN" smtClean="0"/>
              <a:t>2</a:t>
            </a:fld>
            <a:endParaRPr lang="en-IN"/>
          </a:p>
        </p:txBody>
      </p:sp>
    </p:spTree>
    <p:extLst>
      <p:ext uri="{BB962C8B-B14F-4D97-AF65-F5344CB8AC3E}">
        <p14:creationId xmlns:p14="http://schemas.microsoft.com/office/powerpoint/2010/main" val="722651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hasCustomPrompt="1"/>
          </p:nvPr>
        </p:nvSpPr>
        <p:spPr>
          <a:xfrm>
            <a:off x="1097280" y="758952"/>
            <a:ext cx="10058400" cy="3566160"/>
          </a:xfrm>
        </p:spPr>
        <p:txBody>
          <a:bodyPr anchor="b">
            <a:normAutofit/>
          </a:bodyPr>
          <a:lstStyle>
            <a:lvl1pPr algn="l">
              <a:lnSpc>
                <a:spcPct val="85000"/>
              </a:lnSpc>
              <a:defRPr sz="5400" spc="-50" baseline="0">
                <a:solidFill>
                  <a:schemeClr val="bg1"/>
                </a:solidFill>
              </a:defRPr>
            </a:lvl1pPr>
          </a:lstStyle>
          <a:p>
            <a:r>
              <a:rPr lang="en-US"/>
              <a:t>Title</a:t>
            </a:r>
          </a:p>
        </p:txBody>
      </p:sp>
      <p:sp>
        <p:nvSpPr>
          <p:cNvPr id="3" name="Subtitle 2"/>
          <p:cNvSpPr>
            <a:spLocks noGrp="1"/>
          </p:cNvSpPr>
          <p:nvPr>
            <p:ph type="subTitle" idx="1"/>
          </p:nvPr>
        </p:nvSpPr>
        <p:spPr>
          <a:xfrm>
            <a:off x="1100052" y="4455620"/>
            <a:ext cx="10058400" cy="1143000"/>
          </a:xfrm>
        </p:spPr>
        <p:txBody>
          <a:bodyPr lIns="91440" rIns="91440">
            <a:normAutofit/>
          </a:bodyPr>
          <a:lstStyle>
            <a:lvl1pPr marL="0" indent="0" algn="l">
              <a:buNone/>
              <a:defRPr sz="2400" b="0" i="1" cap="none" spc="200" baseline="0">
                <a:solidFill>
                  <a:schemeClr val="bg1"/>
                </a:solidFill>
                <a:latin typeface="Graphik Light" panose="020B0403030202060203"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5" name="Footer Placeholder 4"/>
          <p:cNvSpPr>
            <a:spLocks noGrp="1"/>
          </p:cNvSpPr>
          <p:nvPr>
            <p:ph type="ftr" sz="quarter" idx="11"/>
          </p:nvPr>
        </p:nvSpPr>
        <p:spPr/>
        <p:txBody>
          <a:body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738272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Graphik Regular" panose="020B0503030202060203" pitchFamily="34" charset="0"/>
              </a:defRPr>
            </a:lvl1pPr>
            <a:lvl2pPr>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a:extLst>
              <a:ext uri="{FF2B5EF4-FFF2-40B4-BE49-F238E27FC236}">
                <a16:creationId xmlns:a16="http://schemas.microsoft.com/office/drawing/2014/main" id="{551C70ED-94CA-A642-FD1E-522A6990F33D}"/>
              </a:ext>
            </a:extLst>
          </p:cNvPr>
          <p:cNvSpPr>
            <a:spLocks noGrp="1"/>
          </p:cNvSpPr>
          <p:nvPr>
            <p:ph type="title"/>
          </p:nvPr>
        </p:nvSpPr>
        <p:spPr/>
        <p:txBody>
          <a:bodyPr/>
          <a:lstStyle/>
          <a:p>
            <a:r>
              <a:rPr lang="en-US"/>
              <a:t>Click to edit Master title style</a:t>
            </a:r>
            <a:endParaRPr lang="en-SG"/>
          </a:p>
        </p:txBody>
      </p:sp>
      <p:sp>
        <p:nvSpPr>
          <p:cNvPr id="11" name="Footer Placeholder 10">
            <a:extLst>
              <a:ext uri="{FF2B5EF4-FFF2-40B4-BE49-F238E27FC236}">
                <a16:creationId xmlns:a16="http://schemas.microsoft.com/office/drawing/2014/main" id="{F14EF858-2983-E647-2178-E92591E7E8FD}"/>
              </a:ext>
            </a:extLst>
          </p:cNvPr>
          <p:cNvSpPr>
            <a:spLocks noGrp="1"/>
          </p:cNvSpPr>
          <p:nvPr>
            <p:ph type="ftr" sz="quarter" idx="11"/>
          </p:nvPr>
        </p:nvSpPr>
        <p:spPr/>
        <p:txBody>
          <a:bodyPr/>
          <a:lstStyle/>
          <a:p>
            <a:r>
              <a:rPr lang="it-IT"/>
              <a:t>DA 204o: Data Science in Practice</a:t>
            </a:r>
            <a:endParaRPr lang="en-SG"/>
          </a:p>
        </p:txBody>
      </p:sp>
      <p:sp>
        <p:nvSpPr>
          <p:cNvPr id="12" name="Slide Number Placeholder 11">
            <a:extLst>
              <a:ext uri="{FF2B5EF4-FFF2-40B4-BE49-F238E27FC236}">
                <a16:creationId xmlns:a16="http://schemas.microsoft.com/office/drawing/2014/main" id="{2C483A77-9139-666A-419A-D5D0E83B91ED}"/>
              </a:ext>
            </a:extLst>
          </p:cNvPr>
          <p:cNvSpPr>
            <a:spLocks noGrp="1"/>
          </p:cNvSpPr>
          <p:nvPr>
            <p:ph type="sldNum" sz="quarter" idx="12"/>
          </p:nvPr>
        </p:nvSpPr>
        <p:spPr/>
        <p:txBody>
          <a:bodyPr/>
          <a:lstStyle/>
          <a:p>
            <a:fld id="{BF1758FF-0BF1-4103-A89A-38EC40E85429}" type="slidenum">
              <a:rPr lang="en-SG" smtClean="0"/>
              <a:pPr/>
              <a:t>‹#›</a:t>
            </a:fld>
            <a:endParaRPr lang="en-SG"/>
          </a:p>
        </p:txBody>
      </p:sp>
    </p:spTree>
    <p:extLst>
      <p:ext uri="{BB962C8B-B14F-4D97-AF65-F5344CB8AC3E}">
        <p14:creationId xmlns:p14="http://schemas.microsoft.com/office/powerpoint/2010/main" val="3020835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42925" y="286604"/>
            <a:ext cx="10612756" cy="1000608"/>
          </a:xfrm>
        </p:spPr>
        <p:txBody>
          <a:bodyPr/>
          <a:lstStyle>
            <a:lvl1pPr marL="0">
              <a:defRPr/>
            </a:lvl1pPr>
          </a:lstStyle>
          <a:p>
            <a:r>
              <a:rPr lang="en-US"/>
              <a:t>Click to edit Master title style</a:t>
            </a:r>
          </a:p>
        </p:txBody>
      </p:sp>
      <p:sp>
        <p:nvSpPr>
          <p:cNvPr id="3" name="Content Placeholder 2"/>
          <p:cNvSpPr>
            <a:spLocks noGrp="1"/>
          </p:cNvSpPr>
          <p:nvPr>
            <p:ph idx="1"/>
          </p:nvPr>
        </p:nvSpPr>
        <p:spPr>
          <a:xfrm>
            <a:off x="542925" y="1549400"/>
            <a:ext cx="10612756" cy="4648199"/>
          </a:xfrm>
        </p:spPr>
        <p:txBody>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lvl1pPr>
              <a:defRPr sz="1100"/>
            </a:lvl1p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3055830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54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Graphik Light" panose="020B0403030202060203"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9558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514351" y="286604"/>
            <a:ext cx="11134725" cy="968440"/>
          </a:xfrm>
        </p:spPr>
        <p:txBody>
          <a:bodyPr/>
          <a:lstStyle/>
          <a:p>
            <a:r>
              <a:rPr lang="en-US"/>
              <a:t>Click to edit Master title style</a:t>
            </a:r>
          </a:p>
        </p:txBody>
      </p:sp>
      <p:sp>
        <p:nvSpPr>
          <p:cNvPr id="3" name="Content Placeholder 2"/>
          <p:cNvSpPr>
            <a:spLocks noGrp="1"/>
          </p:cNvSpPr>
          <p:nvPr>
            <p:ph sz="half" idx="1"/>
          </p:nvPr>
        </p:nvSpPr>
        <p:spPr>
          <a:xfrm>
            <a:off x="514350" y="1531407"/>
            <a:ext cx="540000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4590" y="1531408"/>
            <a:ext cx="540000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1610093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it-IT"/>
              <a:t>DA 204o: Data Science in Practice</a:t>
            </a:r>
            <a:endParaRPr lang="en-SG"/>
          </a:p>
        </p:txBody>
      </p:sp>
      <p:sp>
        <p:nvSpPr>
          <p:cNvPr id="9" name="Slide Number Placeholder 8"/>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3425617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it-IT"/>
              <a:t>DA 204o: Data Science in Practice</a:t>
            </a:r>
            <a:endParaRPr lang="en-SG"/>
          </a:p>
        </p:txBody>
      </p:sp>
      <p:sp>
        <p:nvSpPr>
          <p:cNvPr id="5" name="Slide Number Placeholder 4"/>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2976892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it-IT"/>
              <a:t>DA 204o: Data Science in Practice</a:t>
            </a:r>
            <a:endParaRPr lang="en-SG"/>
          </a:p>
        </p:txBody>
      </p:sp>
      <p:sp>
        <p:nvSpPr>
          <p:cNvPr id="9" name="Slide Number Placeholder 8"/>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1299289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8" name="Rectangle 7"/>
          <p:cNvSpPr/>
          <p:nvPr/>
        </p:nvSpPr>
        <p:spPr>
          <a:xfrm>
            <a:off x="606582" y="106831"/>
            <a:ext cx="11271565" cy="6246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p:cNvSpPr>
            <a:spLocks noGrp="1"/>
          </p:cNvSpPr>
          <p:nvPr>
            <p:ph idx="1"/>
          </p:nvPr>
        </p:nvSpPr>
        <p:spPr>
          <a:xfrm>
            <a:off x="606582" y="731520"/>
            <a:ext cx="11271565" cy="5257800"/>
          </a:xfrm>
        </p:spPr>
        <p:txBody>
          <a:bodyPr/>
          <a:lstStyle>
            <a:lvl1pPr>
              <a:defRPr>
                <a:latin typeface="Graphik Regular" panose="020B0503030202060203" pitchFamily="34" charset="0"/>
              </a:defRPr>
            </a:lvl1pPr>
            <a:lvl2pPr>
              <a:defRPr>
                <a:latin typeface="Graphik Regular" panose="020B0503030202060203" pitchFamily="34" charset="0"/>
              </a:defRPr>
            </a:lvl2pPr>
            <a:lvl3pPr>
              <a:defRPr>
                <a:latin typeface="Graphik Regular" panose="020B0503030202060203" pitchFamily="34" charset="0"/>
              </a:defRPr>
            </a:lvl3pPr>
            <a:lvl4pPr>
              <a:defRPr>
                <a:latin typeface="Graphik Regular" panose="020B0503030202060203" pitchFamily="34" charset="0"/>
              </a:defRPr>
            </a:lvl4pPr>
            <a:lvl5pPr>
              <a:defRPr>
                <a:latin typeface="Graphik Regular" panose="020B050303020206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a:xfrm>
            <a:off x="606582" y="6102490"/>
            <a:ext cx="4648201" cy="365125"/>
          </a:xfrm>
        </p:spPr>
        <p:txBody>
          <a:bodyPr/>
          <a:lstStyle>
            <a:lvl1pPr algn="l">
              <a:defRPr>
                <a:solidFill>
                  <a:schemeClr val="accent2"/>
                </a:solidFill>
              </a:defRPr>
            </a:lvl1p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F1758FF-0BF1-4103-A89A-38EC40E85429}" type="slidenum">
              <a:rPr lang="en-SG" smtClean="0"/>
              <a:t>‹#›</a:t>
            </a:fld>
            <a:endParaRPr lang="en-SG"/>
          </a:p>
        </p:txBody>
      </p:sp>
      <p:sp>
        <p:nvSpPr>
          <p:cNvPr id="10" name="Title 7">
            <a:extLst>
              <a:ext uri="{FF2B5EF4-FFF2-40B4-BE49-F238E27FC236}">
                <a16:creationId xmlns:a16="http://schemas.microsoft.com/office/drawing/2014/main" id="{24B7ED05-9CA9-81CD-55D5-01741689E940}"/>
              </a:ext>
            </a:extLst>
          </p:cNvPr>
          <p:cNvSpPr>
            <a:spLocks noGrp="1"/>
          </p:cNvSpPr>
          <p:nvPr>
            <p:ph type="title" idx="4294967295"/>
          </p:nvPr>
        </p:nvSpPr>
        <p:spPr>
          <a:xfrm>
            <a:off x="784636" y="160445"/>
            <a:ext cx="10800782" cy="507704"/>
          </a:xfrm>
        </p:spPr>
        <p:txBody>
          <a:bodyPr>
            <a:noAutofit/>
          </a:bodyPr>
          <a:lstStyle>
            <a:lvl1pPr>
              <a:defRPr sz="2000"/>
            </a:lvl1pPr>
          </a:lstStyle>
          <a:p>
            <a:endParaRPr lang="en-SG" sz="2400">
              <a:solidFill>
                <a:schemeClr val="bg1"/>
              </a:solidFill>
            </a:endParaRPr>
          </a:p>
        </p:txBody>
      </p:sp>
    </p:spTree>
    <p:extLst>
      <p:ext uri="{BB962C8B-B14F-4D97-AF65-F5344CB8AC3E}">
        <p14:creationId xmlns:p14="http://schemas.microsoft.com/office/powerpoint/2010/main" val="491982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6"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1"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4" y="0"/>
            <a:ext cx="12191986"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1"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it-IT"/>
              <a:t>DA 204o: Data Science in Practice</a:t>
            </a:r>
            <a:endParaRPr lang="en-SG"/>
          </a:p>
        </p:txBody>
      </p:sp>
      <p:sp>
        <p:nvSpPr>
          <p:cNvPr id="7" name="Slide Number Placeholder 6"/>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2968797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796814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899" y="414779"/>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199"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it-IT"/>
              <a:t>DA 204o: Data Science in Practice</a:t>
            </a:r>
            <a:endParaRPr lang="en-SG"/>
          </a:p>
        </p:txBody>
      </p:sp>
      <p:sp>
        <p:nvSpPr>
          <p:cNvPr id="6" name="Slide Number Placeholder 5"/>
          <p:cNvSpPr>
            <a:spLocks noGrp="1"/>
          </p:cNvSpPr>
          <p:nvPr>
            <p:ph type="sldNum" sz="quarter" idx="12"/>
          </p:nvPr>
        </p:nvSpPr>
        <p:spPr/>
        <p:txBody>
          <a:bodyPr/>
          <a:lstStyle/>
          <a:p>
            <a:fld id="{BF1758FF-0BF1-4103-A89A-38EC40E85429}" type="slidenum">
              <a:rPr lang="en-SG" smtClean="0"/>
              <a:t>‹#›</a:t>
            </a:fld>
            <a:endParaRPr lang="en-SG"/>
          </a:p>
        </p:txBody>
      </p:sp>
    </p:spTree>
    <p:extLst>
      <p:ext uri="{BB962C8B-B14F-4D97-AF65-F5344CB8AC3E}">
        <p14:creationId xmlns:p14="http://schemas.microsoft.com/office/powerpoint/2010/main" val="3840214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3876" y="18156"/>
            <a:ext cx="11229975" cy="99403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23876" y="1217451"/>
            <a:ext cx="11229975" cy="5074292"/>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686186" y="6459786"/>
            <a:ext cx="4822804" cy="365125"/>
          </a:xfrm>
          <a:prstGeom prst="rect">
            <a:avLst/>
          </a:prstGeom>
        </p:spPr>
        <p:txBody>
          <a:bodyPr vert="horz" lIns="91440" tIns="45720" rIns="91440" bIns="45720" rtlCol="0" anchor="ctr"/>
          <a:lstStyle>
            <a:lvl1pPr algn="ctr">
              <a:defRPr sz="1100" cap="none" baseline="0">
                <a:solidFill>
                  <a:schemeClr val="accent2"/>
                </a:solidFill>
                <a:latin typeface="Graphik Regular" panose="020B0503030202060203" pitchFamily="34" charset="0"/>
              </a:defRPr>
            </a:lvl1pPr>
          </a:lstStyle>
          <a:p>
            <a:r>
              <a:rPr lang="it-IT"/>
              <a:t>DA 204o: Data Science in Practice</a:t>
            </a:r>
            <a:endParaRPr lang="en-SG"/>
          </a:p>
        </p:txBody>
      </p:sp>
      <p:sp>
        <p:nvSpPr>
          <p:cNvPr id="6" name="Slide Number Placeholder 5"/>
          <p:cNvSpPr>
            <a:spLocks noGrp="1"/>
          </p:cNvSpPr>
          <p:nvPr>
            <p:ph type="sldNum" sz="quarter" idx="4"/>
          </p:nvPr>
        </p:nvSpPr>
        <p:spPr>
          <a:xfrm>
            <a:off x="10879975" y="6459785"/>
            <a:ext cx="1312025" cy="365125"/>
          </a:xfrm>
          <a:prstGeom prst="rect">
            <a:avLst/>
          </a:prstGeom>
          <a:noFill/>
        </p:spPr>
        <p:txBody>
          <a:bodyPr vert="horz" lIns="91440" tIns="45720" rIns="91440" bIns="45720" rtlCol="0" anchor="ctr"/>
          <a:lstStyle>
            <a:lvl1pPr algn="r">
              <a:defRPr sz="1050">
                <a:solidFill>
                  <a:schemeClr val="tx1"/>
                </a:solidFill>
                <a:latin typeface="Graphik Thin" panose="020B0203030202060203" pitchFamily="34" charset="0"/>
              </a:defRPr>
            </a:lvl1pPr>
          </a:lstStyle>
          <a:p>
            <a:fld id="{BF1758FF-0BF1-4103-A89A-38EC40E85429}" type="slidenum">
              <a:rPr lang="en-SG" smtClean="0"/>
              <a:pPr/>
              <a:t>‹#›</a:t>
            </a:fld>
            <a:endParaRPr lang="en-SG"/>
          </a:p>
        </p:txBody>
      </p:sp>
    </p:spTree>
    <p:extLst>
      <p:ext uri="{BB962C8B-B14F-4D97-AF65-F5344CB8AC3E}">
        <p14:creationId xmlns:p14="http://schemas.microsoft.com/office/powerpoint/2010/main" val="626750661"/>
      </p:ext>
    </p:extLst>
  </p:cSld>
  <p:clrMap bg1="lt1" tx1="dk1" bg2="lt2" tx2="dk2" accent1="accent1" accent2="accent2" accent3="accent3" accent4="accent4" accent5="accent5" accent6="accent6" hlink="hlink" folHlink="folHlink"/>
  <p:sldLayoutIdLst>
    <p:sldLayoutId id="2147483721" r:id="rId1"/>
    <p:sldLayoutId id="2147483732"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Lst>
  <p:hf hdr="0" dt="0"/>
  <p:txStyles>
    <p:title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p:titleStyle>
    <p:bodyStyle>
      <a:lvl1pPr marL="216000" indent="-216000" algn="l" defTabSz="914400" rtl="0" eaLnBrk="1" latinLnBrk="0" hangingPunct="1">
        <a:lnSpc>
          <a:spcPct val="90000"/>
        </a:lnSpc>
        <a:spcBef>
          <a:spcPts val="1200"/>
        </a:spcBef>
        <a:spcAft>
          <a:spcPts val="200"/>
        </a:spcAft>
        <a:buClr>
          <a:schemeClr val="accent2"/>
        </a:buClr>
        <a:buSzPct val="100000"/>
        <a:buFont typeface="Arial" panose="020B0604020202020204" pitchFamily="34" charset="0"/>
        <a:buChar char="•"/>
        <a:defRPr sz="2000" kern="1200">
          <a:solidFill>
            <a:schemeClr val="tx1">
              <a:lumMod val="75000"/>
              <a:lumOff val="25000"/>
            </a:schemeClr>
          </a:solidFill>
          <a:latin typeface="Graphik Light" panose="020B0403030202060203" pitchFamily="34" charset="0"/>
          <a:ea typeface="+mn-ea"/>
          <a:cs typeface="+mn-cs"/>
        </a:defRPr>
      </a:lvl1pPr>
      <a:lvl2pPr marL="48691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800" kern="1200">
          <a:solidFill>
            <a:schemeClr val="tx1">
              <a:lumMod val="75000"/>
              <a:lumOff val="25000"/>
            </a:schemeClr>
          </a:solidFill>
          <a:latin typeface="Graphik Light" panose="020B0403030202060203" pitchFamily="34" charset="0"/>
          <a:ea typeface="+mn-ea"/>
          <a:cs typeface="+mn-cs"/>
        </a:defRPr>
      </a:lvl2pPr>
      <a:lvl3pPr marL="66979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400" kern="1200">
          <a:solidFill>
            <a:schemeClr val="tx1">
              <a:lumMod val="75000"/>
              <a:lumOff val="25000"/>
            </a:schemeClr>
          </a:solidFill>
          <a:latin typeface="Graphik Light" panose="020B0403030202060203" pitchFamily="34" charset="0"/>
          <a:ea typeface="+mn-ea"/>
          <a:cs typeface="+mn-cs"/>
        </a:defRPr>
      </a:lvl3pPr>
      <a:lvl4pPr marL="85267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400" kern="1200">
          <a:solidFill>
            <a:schemeClr val="tx1">
              <a:lumMod val="75000"/>
              <a:lumOff val="25000"/>
            </a:schemeClr>
          </a:solidFill>
          <a:latin typeface="Graphik Light" panose="020B0403030202060203" pitchFamily="34" charset="0"/>
          <a:ea typeface="+mn-ea"/>
          <a:cs typeface="+mn-cs"/>
        </a:defRPr>
      </a:lvl4pPr>
      <a:lvl5pPr marL="103555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400" kern="1200">
          <a:solidFill>
            <a:schemeClr val="tx1">
              <a:lumMod val="75000"/>
              <a:lumOff val="25000"/>
            </a:schemeClr>
          </a:solidFill>
          <a:latin typeface="Graphik Light" panose="020B0403030202060203" pitchFamily="34"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umeshbp@iisc.ac.in" TargetMode="External"/><Relationship Id="rId2" Type="http://schemas.openxmlformats.org/officeDocument/2006/relationships/hyperlink" Target="mailto:roupyajayb@iisc.ac.in" TargetMode="Externa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mailto:ninadphadnis@iisc.ac.in" TargetMode="External"/><Relationship Id="rId4" Type="http://schemas.openxmlformats.org/officeDocument/2006/relationships/hyperlink" Target="mailto:bhagathchan1@iisc.ac.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png"/><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file:///E:\IISc\Data_science_Practice\Project\heatmap.html" TargetMode="Externa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hyperlink" Target="https://ds-us-accidents-analysis-7xhebyb48xunkr4cn8zqhe.streamlit.app/" TargetMode="External"/><Relationship Id="rId2" Type="http://schemas.openxmlformats.org/officeDocument/2006/relationships/image" Target="../media/image21.png"/><Relationship Id="rId1" Type="http://schemas.openxmlformats.org/officeDocument/2006/relationships/slideLayout" Target="../slideLayouts/slideLayout9.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BFB357-27F2-CAB3-DB8A-349B06BE1AF8}"/>
              </a:ext>
            </a:extLst>
          </p:cNvPr>
          <p:cNvSpPr>
            <a:spLocks noGrp="1"/>
          </p:cNvSpPr>
          <p:nvPr>
            <p:ph type="ctrTitle"/>
          </p:nvPr>
        </p:nvSpPr>
        <p:spPr>
          <a:xfrm>
            <a:off x="547287" y="518929"/>
            <a:ext cx="11435367" cy="3555805"/>
          </a:xfrm>
        </p:spPr>
        <p:txBody>
          <a:bodyPr>
            <a:normAutofit/>
          </a:bodyPr>
          <a:lstStyle/>
          <a:p>
            <a:pPr>
              <a:lnSpc>
                <a:spcPct val="125000"/>
              </a:lnSpc>
              <a:spcBef>
                <a:spcPts val="1200"/>
              </a:spcBef>
              <a:spcAft>
                <a:spcPts val="1800"/>
              </a:spcAft>
            </a:pPr>
            <a:r>
              <a:rPr lang="en-IN" sz="4000" b="1">
                <a:latin typeface="Times New Roman"/>
                <a:cs typeface="Times New Roman"/>
              </a:rPr>
              <a:t>Data Science in Practice</a:t>
            </a:r>
            <a:br>
              <a:rPr lang="en-US" sz="2800" i="1">
                <a:latin typeface="Graphik Regular" panose="020B0503030202060203" pitchFamily="34" charset="0"/>
              </a:rPr>
            </a:br>
            <a:br>
              <a:rPr lang="en-US" sz="2400" i="1">
                <a:latin typeface="Graphik Regular" panose="020B0503030202060203" pitchFamily="34" charset="0"/>
              </a:rPr>
            </a:br>
            <a:r>
              <a:rPr lang="en-IN" sz="2800">
                <a:latin typeface="Times New Roman"/>
                <a:cs typeface="Times New Roman"/>
              </a:rPr>
              <a:t>US Accidents – Predictive Modelling and EDA</a:t>
            </a:r>
            <a:endParaRPr lang="en-IN" sz="2800">
              <a:latin typeface="Times New Roman" panose="02020603050405020304" pitchFamily="18" charset="0"/>
              <a:cs typeface="Times New Roman" panose="02020603050405020304" pitchFamily="18" charset="0"/>
            </a:endParaRPr>
          </a:p>
        </p:txBody>
      </p:sp>
      <p:sp>
        <p:nvSpPr>
          <p:cNvPr id="6" name="Subtitle 5">
            <a:extLst>
              <a:ext uri="{FF2B5EF4-FFF2-40B4-BE49-F238E27FC236}">
                <a16:creationId xmlns:a16="http://schemas.microsoft.com/office/drawing/2014/main" id="{E0DA5462-5AF1-0B45-7440-020F4F040A94}"/>
              </a:ext>
            </a:extLst>
          </p:cNvPr>
          <p:cNvSpPr>
            <a:spLocks noGrp="1"/>
          </p:cNvSpPr>
          <p:nvPr>
            <p:ph type="subTitle" idx="1"/>
          </p:nvPr>
        </p:nvSpPr>
        <p:spPr>
          <a:xfrm>
            <a:off x="575116" y="4909726"/>
            <a:ext cx="9708915" cy="1517698"/>
          </a:xfrm>
        </p:spPr>
        <p:txBody>
          <a:bodyPr>
            <a:normAutofit/>
          </a:bodyPr>
          <a:lstStyle/>
          <a:p>
            <a:pPr>
              <a:spcBef>
                <a:spcPts val="0"/>
              </a:spcBef>
            </a:pPr>
            <a:r>
              <a:rPr lang="en-US" err="1"/>
              <a:t>Roupyajay</a:t>
            </a:r>
            <a:r>
              <a:rPr lang="en-IN"/>
              <a:t> Bhattacharya </a:t>
            </a:r>
            <a:r>
              <a:rPr lang="en-SG" b="1" spc="10">
                <a:latin typeface="Graphik Semibold" panose="020B0703030202060203" pitchFamily="34" charset="0"/>
              </a:rPr>
              <a:t>, </a:t>
            </a:r>
            <a:r>
              <a:rPr lang="en-SG" spc="10">
                <a:latin typeface="Graphik Regular" panose="020B0503030202060203" pitchFamily="34" charset="0"/>
              </a:rPr>
              <a:t>IISc., </a:t>
            </a:r>
            <a:r>
              <a:rPr lang="en-US">
                <a:hlinkClick r:id="rId2"/>
              </a:rPr>
              <a:t>roupyajayb@iisc.ac.in</a:t>
            </a:r>
            <a:r>
              <a:rPr lang="en-IN"/>
              <a:t> </a:t>
            </a:r>
          </a:p>
          <a:p>
            <a:pPr>
              <a:spcBef>
                <a:spcPts val="0"/>
              </a:spcBef>
            </a:pPr>
            <a:r>
              <a:rPr lang="en-US"/>
              <a:t>Umesh BP</a:t>
            </a:r>
            <a:r>
              <a:rPr lang="en-SG" b="1" spc="10">
                <a:latin typeface="Graphik Semibold" panose="020B0703030202060203" pitchFamily="34" charset="0"/>
              </a:rPr>
              <a:t>, </a:t>
            </a:r>
            <a:r>
              <a:rPr lang="en-SG" spc="10">
                <a:latin typeface="Graphik Regular" panose="020B0503030202060203" pitchFamily="34" charset="0"/>
              </a:rPr>
              <a:t>IISc., </a:t>
            </a:r>
            <a:r>
              <a:rPr lang="en-US">
                <a:hlinkClick r:id="rId3"/>
              </a:rPr>
              <a:t>umeshbp@iisc.ac.in</a:t>
            </a:r>
            <a:r>
              <a:rPr lang="en-IN"/>
              <a:t> </a:t>
            </a:r>
          </a:p>
          <a:p>
            <a:pPr>
              <a:spcBef>
                <a:spcPts val="0"/>
              </a:spcBef>
            </a:pPr>
            <a:r>
              <a:rPr lang="en-US"/>
              <a:t>Madipally</a:t>
            </a:r>
            <a:r>
              <a:rPr lang="en-IN"/>
              <a:t> Bhagath Chandra</a:t>
            </a:r>
            <a:r>
              <a:rPr lang="en-SG" b="1" spc="10">
                <a:latin typeface="Graphik Semibold" panose="020B0703030202060203" pitchFamily="34" charset="0"/>
              </a:rPr>
              <a:t>, </a:t>
            </a:r>
            <a:r>
              <a:rPr lang="en-SG" spc="10">
                <a:latin typeface="Graphik Regular" panose="020B0503030202060203" pitchFamily="34" charset="0"/>
              </a:rPr>
              <a:t>IISc.,</a:t>
            </a:r>
            <a:r>
              <a:rPr lang="en-US">
                <a:hlinkClick r:id="rId4"/>
              </a:rPr>
              <a:t>bhagathchan1@iisc.ac.in</a:t>
            </a:r>
            <a:r>
              <a:rPr lang="en-IN"/>
              <a:t>   </a:t>
            </a:r>
            <a:endParaRPr lang="en-SG" spc="10">
              <a:latin typeface="Graphik Regular" panose="020B0503030202060203" pitchFamily="34" charset="0"/>
            </a:endParaRPr>
          </a:p>
          <a:p>
            <a:pPr>
              <a:spcBef>
                <a:spcPts val="0"/>
              </a:spcBef>
            </a:pPr>
            <a:r>
              <a:rPr lang="en-US"/>
              <a:t>Ninad</a:t>
            </a:r>
            <a:r>
              <a:rPr lang="en-IN"/>
              <a:t> Phadnis</a:t>
            </a:r>
            <a:r>
              <a:rPr lang="en-SG" b="1" spc="10">
                <a:latin typeface="Graphik Semibold" panose="020B0703030202060203" pitchFamily="34" charset="0"/>
              </a:rPr>
              <a:t>, </a:t>
            </a:r>
            <a:r>
              <a:rPr lang="en-SG" spc="10">
                <a:latin typeface="Graphik Regular" panose="020B0503030202060203" pitchFamily="34" charset="0"/>
              </a:rPr>
              <a:t>IISc., </a:t>
            </a:r>
            <a:r>
              <a:rPr lang="en-US">
                <a:hlinkClick r:id="rId5"/>
              </a:rPr>
              <a:t>ninadphadnis@iisc.ac.in</a:t>
            </a:r>
            <a:r>
              <a:rPr lang="en-IN"/>
              <a:t> </a:t>
            </a:r>
          </a:p>
          <a:p>
            <a:pPr>
              <a:spcBef>
                <a:spcPts val="0"/>
              </a:spcBef>
            </a:pPr>
            <a:endParaRPr lang="en-SG" spc="10">
              <a:latin typeface="Graphik Regular" panose="020B0503030202060203" pitchFamily="34" charset="0"/>
            </a:endParaRPr>
          </a:p>
        </p:txBody>
      </p:sp>
      <p:pic>
        <p:nvPicPr>
          <p:cNvPr id="1030" name="Picture 6">
            <a:extLst>
              <a:ext uri="{FF2B5EF4-FFF2-40B4-BE49-F238E27FC236}">
                <a16:creationId xmlns:a16="http://schemas.microsoft.com/office/drawing/2014/main" id="{D3E81A4C-F5FA-837F-A4BE-59A4EBDF1955}"/>
              </a:ext>
            </a:extLst>
          </p:cNvPr>
          <p:cNvPicPr>
            <a:picLocks noChangeAspect="1" noChangeArrowheads="1"/>
          </p:cNvPicPr>
          <p:nvPr/>
        </p:nvPicPr>
        <p:blipFill rotWithShape="1">
          <a:blip r:embed="rId6">
            <a:biLevel thresh="25000"/>
            <a:extLst>
              <a:ext uri="{28A0092B-C50C-407E-A947-70E740481C1C}">
                <a14:useLocalDpi xmlns:a14="http://schemas.microsoft.com/office/drawing/2010/main" val="0"/>
              </a:ext>
            </a:extLst>
          </a:blip>
          <a:srcRect l="22117" t="9724" r="19603" b="12061"/>
          <a:stretch/>
        </p:blipFill>
        <p:spPr bwMode="auto">
          <a:xfrm>
            <a:off x="575117" y="191897"/>
            <a:ext cx="1451723" cy="1377275"/>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a:cxnSpLocks/>
          </p:cNvCxnSpPr>
          <p:nvPr/>
        </p:nvCxnSpPr>
        <p:spPr>
          <a:xfrm>
            <a:off x="702117" y="4358839"/>
            <a:ext cx="7476683" cy="0"/>
          </a:xfrm>
          <a:prstGeom prst="line">
            <a:avLst/>
          </a:prstGeom>
          <a:ln w="19050">
            <a:gradFill flip="none" rotWithShape="1">
              <a:gsLst>
                <a:gs pos="0">
                  <a:schemeClr val="accent1">
                    <a:lumMod val="0"/>
                    <a:lumOff val="100000"/>
                  </a:schemeClr>
                </a:gs>
                <a:gs pos="79000">
                  <a:schemeClr val="accent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55D6878F-6FFC-FAE5-07B1-73AB5479E4B6}"/>
              </a:ext>
            </a:extLst>
          </p:cNvPr>
          <p:cNvSpPr/>
          <p:nvPr/>
        </p:nvSpPr>
        <p:spPr>
          <a:xfrm rot="18513442">
            <a:off x="10813103" y="-475685"/>
            <a:ext cx="4465544" cy="4402494"/>
          </a:xfrm>
          <a:prstGeom prst="rect">
            <a:avLst/>
          </a:prstGeom>
          <a:solidFill>
            <a:schemeClr val="accent2"/>
          </a:solidFill>
          <a:ln w="28575">
            <a:gradFill flip="none" rotWithShape="1">
              <a:gsLst>
                <a:gs pos="0">
                  <a:schemeClr val="accent1">
                    <a:lumMod val="0"/>
                    <a:lumOff val="100000"/>
                  </a:schemeClr>
                </a:gs>
                <a:gs pos="35000">
                  <a:schemeClr val="accent1">
                    <a:lumMod val="0"/>
                    <a:lumOff val="100000"/>
                  </a:schemeClr>
                </a:gs>
                <a:gs pos="100000">
                  <a:schemeClr val="accent3"/>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10">
            <a:extLst>
              <a:ext uri="{FF2B5EF4-FFF2-40B4-BE49-F238E27FC236}">
                <a16:creationId xmlns:a16="http://schemas.microsoft.com/office/drawing/2014/main" id="{DE00920B-79FB-6857-F3B1-ECD8CE96BE76}"/>
              </a:ext>
            </a:extLst>
          </p:cNvPr>
          <p:cNvSpPr/>
          <p:nvPr/>
        </p:nvSpPr>
        <p:spPr>
          <a:xfrm rot="18513442">
            <a:off x="10475635" y="3470367"/>
            <a:ext cx="4465544" cy="4402494"/>
          </a:xfrm>
          <a:prstGeom prst="rect">
            <a:avLst/>
          </a:prstGeom>
          <a:solidFill>
            <a:schemeClr val="accent2"/>
          </a:solidFill>
          <a:ln w="28575">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circle">
                <a:fillToRect l="50000" t="-80000" r="50000" b="180000"/>
              </a:path>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284436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47C04683-9D26-7720-A3F1-12D7D1DDB243}"/>
              </a:ext>
            </a:extLst>
          </p:cNvPr>
          <p:cNvSpPr>
            <a:spLocks noGrp="1"/>
          </p:cNvSpPr>
          <p:nvPr>
            <p:ph idx="1"/>
          </p:nvPr>
        </p:nvSpPr>
        <p:spPr>
          <a:xfrm>
            <a:off x="784637" y="814811"/>
            <a:ext cx="10508204" cy="5157255"/>
          </a:xfrm>
        </p:spPr>
        <p:txBody>
          <a:bodyPr vert="horz" lIns="0" tIns="45720" rIns="0" bIns="45720" rtlCol="0" anchor="t">
            <a:normAutofit/>
          </a:bodyPr>
          <a:lstStyle/>
          <a:p>
            <a:pPr marL="0" indent="0">
              <a:buNone/>
            </a:pPr>
            <a:r>
              <a:rPr lang="en-GB" sz="1800" b="1">
                <a:solidFill>
                  <a:schemeClr val="tx1"/>
                </a:solidFill>
                <a:latin typeface="Calibri"/>
                <a:ea typeface="Calibri"/>
                <a:cs typeface="Calibri"/>
              </a:rPr>
              <a:t>Problem Definition:</a:t>
            </a:r>
            <a:endParaRPr lang="en-US" sz="1800">
              <a:solidFill>
                <a:schemeClr val="tx1"/>
              </a:solidFill>
              <a:latin typeface="Calibri"/>
              <a:ea typeface="Calibri"/>
              <a:cs typeface="Calibri"/>
            </a:endParaRPr>
          </a:p>
          <a:p>
            <a:pPr marL="200660" lvl="1" indent="0" algn="just">
              <a:buNone/>
            </a:pPr>
            <a:r>
              <a:rPr lang="en-GB">
                <a:solidFill>
                  <a:srgbClr val="000000"/>
                </a:solidFill>
                <a:latin typeface="Calibri"/>
                <a:ea typeface="Calibri"/>
                <a:cs typeface="Calibri"/>
              </a:rPr>
              <a:t>The project is to use data science tools and techniques to build predictive modelling for a countrywide car accident dataset that covers </a:t>
            </a:r>
            <a:r>
              <a:rPr lang="en-GB" b="1">
                <a:solidFill>
                  <a:srgbClr val="000000"/>
                </a:solidFill>
                <a:latin typeface="Calibri"/>
                <a:ea typeface="Calibri"/>
                <a:cs typeface="Calibri"/>
              </a:rPr>
              <a:t>49 states of the USA</a:t>
            </a:r>
            <a:r>
              <a:rPr lang="en-GB">
                <a:solidFill>
                  <a:srgbClr val="000000"/>
                </a:solidFill>
                <a:latin typeface="Calibri"/>
                <a:ea typeface="Calibri"/>
                <a:cs typeface="Calibri"/>
              </a:rPr>
              <a:t>. The accident data was collected from February 2016 to March 2023. The severity is the target variable, and it indicates the length of the traffic (Higher severity means more traffic)</a:t>
            </a:r>
            <a:endParaRPr lang="en-GB" b="1">
              <a:solidFill>
                <a:schemeClr val="tx1"/>
              </a:solidFill>
              <a:latin typeface="Calibri"/>
              <a:ea typeface="Calibri"/>
              <a:cs typeface="Calibri"/>
            </a:endParaRPr>
          </a:p>
          <a:p>
            <a:pPr marL="0" indent="-69850" algn="just">
              <a:buNone/>
            </a:pPr>
            <a:r>
              <a:rPr lang="en-GB" sz="1800" b="1">
                <a:solidFill>
                  <a:schemeClr val="tx1"/>
                </a:solidFill>
                <a:latin typeface="Calibri"/>
                <a:ea typeface="Calibri"/>
                <a:cs typeface="Calibri"/>
              </a:rPr>
              <a:t>Problem Motivation:</a:t>
            </a:r>
            <a:endParaRPr lang="en-US" sz="1800">
              <a:solidFill>
                <a:schemeClr val="tx1"/>
              </a:solidFill>
              <a:latin typeface="Calibri"/>
              <a:ea typeface="Calibri"/>
              <a:cs typeface="Calibri"/>
            </a:endParaRPr>
          </a:p>
          <a:p>
            <a:pPr marL="200660" lvl="1" indent="0" algn="just">
              <a:buNone/>
            </a:pPr>
            <a:r>
              <a:rPr lang="en-US">
                <a:solidFill>
                  <a:srgbClr val="3C4043"/>
                </a:solidFill>
                <a:latin typeface="Calibri"/>
                <a:ea typeface="Calibri"/>
                <a:cs typeface="Calibri"/>
              </a:rPr>
              <a:t>Road accidents are a safety concern and can be life threatening or lead to permanent disability. A right analysis can help the police authorities to rightly allocate their resources, the government to plan some specific infrastructural opportunities and bring some regulatory changes. It can also help other stakeholders like business hubs to make specific changes to further help in ensuring employee safety as is further inferred in our report.</a:t>
            </a:r>
            <a:endParaRPr lang="en-GB">
              <a:solidFill>
                <a:schemeClr val="tx1"/>
              </a:solidFill>
              <a:latin typeface="Calibri"/>
              <a:ea typeface="Calibri"/>
              <a:cs typeface="Calibri"/>
            </a:endParaRPr>
          </a:p>
          <a:p>
            <a:pPr marL="0" indent="-69850" algn="just">
              <a:buNone/>
            </a:pPr>
            <a:r>
              <a:rPr lang="en-GB" sz="1800" b="1">
                <a:solidFill>
                  <a:schemeClr val="tx1"/>
                </a:solidFill>
                <a:latin typeface="Calibri"/>
                <a:ea typeface="Calibri"/>
                <a:cs typeface="Calibri"/>
              </a:rPr>
              <a:t>Project Scope:</a:t>
            </a:r>
            <a:endParaRPr lang="en-US" sz="1800">
              <a:solidFill>
                <a:schemeClr val="tx1"/>
              </a:solidFill>
              <a:latin typeface="Calibri"/>
              <a:ea typeface="Calibri"/>
              <a:cs typeface="Calibri"/>
            </a:endParaRPr>
          </a:p>
          <a:p>
            <a:pPr marL="200660" lvl="1" indent="0" algn="just">
              <a:buNone/>
            </a:pPr>
            <a:r>
              <a:rPr lang="en-GB">
                <a:solidFill>
                  <a:srgbClr val="000000"/>
                </a:solidFill>
                <a:latin typeface="Calibri"/>
                <a:ea typeface="Calibri"/>
                <a:cs typeface="Calibri"/>
              </a:rPr>
              <a:t>We have focused on two main topics following the basic data cleaning and data preparation. First, we conducted exploratory data analysis to find various patterns in the data and check relationships between various attributes of the data using univariate, bivariate, and multivariate analysis.</a:t>
            </a:r>
            <a:endParaRPr lang="en-US" b="1">
              <a:solidFill>
                <a:schemeClr val="tx1"/>
              </a:solidFill>
              <a:latin typeface="Calibri"/>
              <a:ea typeface="Calibri"/>
              <a:cs typeface="Calibri"/>
            </a:endParaRPr>
          </a:p>
          <a:p>
            <a:pPr marL="0" indent="0">
              <a:buNone/>
            </a:pPr>
            <a:r>
              <a:rPr lang="en-GB" sz="1800" b="1">
                <a:solidFill>
                  <a:schemeClr val="tx1"/>
                </a:solidFill>
                <a:latin typeface="Calibri"/>
                <a:ea typeface="Calibri"/>
                <a:cs typeface="Calibri"/>
              </a:rPr>
              <a:t>Project</a:t>
            </a:r>
            <a:r>
              <a:rPr lang="en-GB" b="1">
                <a:solidFill>
                  <a:schemeClr val="tx1"/>
                </a:solidFill>
                <a:latin typeface="Calibri"/>
                <a:ea typeface="Calibri"/>
                <a:cs typeface="Calibri"/>
              </a:rPr>
              <a:t> </a:t>
            </a:r>
            <a:r>
              <a:rPr lang="en-GB" sz="1800" b="1">
                <a:solidFill>
                  <a:schemeClr val="tx1"/>
                </a:solidFill>
                <a:latin typeface="Calibri"/>
                <a:ea typeface="Calibri"/>
                <a:cs typeface="Calibri"/>
              </a:rPr>
              <a:t>Objective</a:t>
            </a:r>
            <a:r>
              <a:rPr lang="en-GB" b="1">
                <a:solidFill>
                  <a:schemeClr val="tx1"/>
                </a:solidFill>
                <a:latin typeface="Calibri"/>
                <a:ea typeface="Calibri"/>
                <a:cs typeface="Calibri"/>
              </a:rPr>
              <a:t>:</a:t>
            </a:r>
            <a:r>
              <a:rPr lang="en-US" sz="2100"/>
              <a:t> </a:t>
            </a:r>
            <a:r>
              <a:rPr lang="en-US" sz="1800">
                <a:solidFill>
                  <a:srgbClr val="000000"/>
                </a:solidFill>
                <a:latin typeface="Calibri"/>
                <a:ea typeface="Calibri"/>
                <a:cs typeface="Calibri"/>
              </a:rPr>
              <a:t>Predict accident severity using weather, infrastructure, and temporal features.</a:t>
            </a:r>
          </a:p>
          <a:p>
            <a:pPr marL="0" indent="-70258" algn="just">
              <a:buNone/>
            </a:pPr>
            <a:endParaRPr lang="en-US" b="1">
              <a:solidFill>
                <a:schemeClr val="tx1"/>
              </a:solidFill>
              <a:latin typeface="Calibri"/>
              <a:ea typeface="Calibri"/>
              <a:cs typeface="Calibri"/>
            </a:endParaRPr>
          </a:p>
          <a:p>
            <a:pPr marL="0" indent="0">
              <a:buNone/>
            </a:pPr>
            <a:endParaRPr lang="en-US" sz="2200">
              <a:latin typeface="Calibri"/>
              <a:ea typeface="Calibri"/>
              <a:cs typeface="Calibri"/>
            </a:endParaRPr>
          </a:p>
        </p:txBody>
      </p:sp>
      <p:sp>
        <p:nvSpPr>
          <p:cNvPr id="6" name="Footer Placeholder 5">
            <a:extLst>
              <a:ext uri="{FF2B5EF4-FFF2-40B4-BE49-F238E27FC236}">
                <a16:creationId xmlns:a16="http://schemas.microsoft.com/office/drawing/2014/main" id="{209F87E3-EF85-5975-5843-8C317E72C3E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3833D9B-569A-42CE-E61E-A2EF51AAA919}"/>
              </a:ext>
            </a:extLst>
          </p:cNvPr>
          <p:cNvSpPr>
            <a:spLocks noGrp="1"/>
          </p:cNvSpPr>
          <p:nvPr>
            <p:ph type="sldNum" sz="quarter" idx="12"/>
          </p:nvPr>
        </p:nvSpPr>
        <p:spPr/>
        <p:txBody>
          <a:bodyPr/>
          <a:lstStyle/>
          <a:p>
            <a:fld id="{BF1758FF-0BF1-4103-A89A-38EC40E85429}" type="slidenum">
              <a:rPr lang="en-SG" smtClean="0"/>
              <a:t>2</a:t>
            </a:fld>
            <a:endParaRPr lang="en-SG"/>
          </a:p>
        </p:txBody>
      </p:sp>
      <p:sp>
        <p:nvSpPr>
          <p:cNvPr id="2" name="Title 2">
            <a:extLst>
              <a:ext uri="{FF2B5EF4-FFF2-40B4-BE49-F238E27FC236}">
                <a16:creationId xmlns:a16="http://schemas.microsoft.com/office/drawing/2014/main" id="{2C648FD1-DC7B-8C27-882B-DEEA637675D9}"/>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rPr>
              <a:t>Problem Statement</a:t>
            </a:r>
            <a:endParaRPr lang="en-IN" b="1">
              <a:solidFill>
                <a:schemeClr val="bg1"/>
              </a:solidFill>
            </a:endParaRPr>
          </a:p>
        </p:txBody>
      </p:sp>
    </p:spTree>
    <p:extLst>
      <p:ext uri="{BB962C8B-B14F-4D97-AF65-F5344CB8AC3E}">
        <p14:creationId xmlns:p14="http://schemas.microsoft.com/office/powerpoint/2010/main" val="290933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B1171-995C-B5D9-46DD-3F667659CD7C}"/>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546789EF-F3B4-7A40-92FB-5FE09BAEC11B}"/>
              </a:ext>
            </a:extLst>
          </p:cNvPr>
          <p:cNvSpPr>
            <a:spLocks noGrp="1"/>
          </p:cNvSpPr>
          <p:nvPr>
            <p:ph idx="1"/>
          </p:nvPr>
        </p:nvSpPr>
        <p:spPr>
          <a:xfrm>
            <a:off x="784637" y="814811"/>
            <a:ext cx="10508204" cy="5157255"/>
          </a:xfrm>
        </p:spPr>
        <p:txBody>
          <a:bodyPr vert="horz" lIns="0" tIns="45720" rIns="0" bIns="45720" rtlCol="0" anchor="t">
            <a:normAutofit fontScale="92500" lnSpcReduction="10000"/>
          </a:bodyPr>
          <a:lstStyle/>
          <a:p>
            <a:pPr marL="215900" indent="-215900">
              <a:lnSpc>
                <a:spcPct val="200000"/>
              </a:lnSpc>
            </a:pPr>
            <a:r>
              <a:rPr lang="en-GB" sz="1800">
                <a:solidFill>
                  <a:srgbClr val="000000"/>
                </a:solidFill>
                <a:latin typeface="Calibri"/>
                <a:ea typeface="Calibri"/>
                <a:cs typeface="Calibri"/>
              </a:rPr>
              <a:t>The source of the data is from</a:t>
            </a:r>
            <a:r>
              <a:rPr lang="en-GB" sz="1800" b="1">
                <a:solidFill>
                  <a:srgbClr val="000000"/>
                </a:solidFill>
                <a:latin typeface="Calibri"/>
                <a:ea typeface="Calibri"/>
                <a:cs typeface="Calibri"/>
              </a:rPr>
              <a:t> Kaggle: </a:t>
            </a:r>
            <a:r>
              <a:rPr lang="en-GB" sz="1800" b="1">
                <a:solidFill>
                  <a:schemeClr val="tx1"/>
                </a:solidFill>
                <a:latin typeface="Calibri"/>
                <a:ea typeface="Calibri"/>
                <a:cs typeface="Calibri"/>
              </a:rPr>
              <a:t>US Accidents (2016 - 2023). The data has 7728394 unique values i.e. circa 7.7M values. </a:t>
            </a:r>
            <a:r>
              <a:rPr lang="en-GB" sz="1800">
                <a:solidFill>
                  <a:schemeClr val="tx1"/>
                </a:solidFill>
                <a:latin typeface="Calibri"/>
                <a:ea typeface="Calibri"/>
                <a:cs typeface="Calibri"/>
              </a:rPr>
              <a:t>The data is rich with a wide range of data point spanning across multiple areas as below:</a:t>
            </a:r>
            <a:endParaRPr lang="en-US">
              <a:solidFill>
                <a:schemeClr val="tx1"/>
              </a:solidFill>
              <a:latin typeface="Calibri"/>
              <a:ea typeface="Calibri"/>
              <a:cs typeface="Calibri"/>
            </a:endParaRPr>
          </a:p>
          <a:p>
            <a:pPr marL="215900" indent="-215900">
              <a:lnSpc>
                <a:spcPct val="200000"/>
              </a:lnSpc>
            </a:pPr>
            <a:r>
              <a:rPr lang="en-GB" sz="1800" b="1">
                <a:solidFill>
                  <a:schemeClr val="tx1"/>
                </a:solidFill>
                <a:latin typeface="Calibri"/>
                <a:ea typeface="Calibri"/>
                <a:cs typeface="Calibri"/>
              </a:rPr>
              <a:t>Weather data: </a:t>
            </a:r>
            <a:r>
              <a:rPr lang="en-GB" sz="1800">
                <a:solidFill>
                  <a:schemeClr val="tx1"/>
                </a:solidFill>
                <a:latin typeface="Calibri"/>
                <a:ea typeface="Calibri"/>
                <a:cs typeface="Calibri"/>
              </a:rPr>
              <a:t>Captures temperature, humidity, pressure, Visibility, Wind Speed etc.</a:t>
            </a:r>
          </a:p>
          <a:p>
            <a:pPr marL="215900" indent="-215900">
              <a:lnSpc>
                <a:spcPct val="200000"/>
              </a:lnSpc>
            </a:pPr>
            <a:r>
              <a:rPr lang="en-GB" sz="1800" b="1">
                <a:solidFill>
                  <a:schemeClr val="tx1"/>
                </a:solidFill>
                <a:latin typeface="Calibri"/>
                <a:ea typeface="Calibri"/>
                <a:cs typeface="Calibri"/>
              </a:rPr>
              <a:t>Severity, Source:</a:t>
            </a:r>
            <a:r>
              <a:rPr lang="en-GB" sz="1800">
                <a:solidFill>
                  <a:schemeClr val="tx1"/>
                </a:solidFill>
                <a:latin typeface="Calibri"/>
                <a:ea typeface="Calibri"/>
                <a:cs typeface="Calibri"/>
              </a:rPr>
              <a:t> </a:t>
            </a:r>
            <a:r>
              <a:rPr lang="en-GB" sz="1800">
                <a:solidFill>
                  <a:schemeClr val="tx1"/>
                </a:solidFill>
                <a:latin typeface="Graphik Regular"/>
                <a:ea typeface="Calibri"/>
                <a:cs typeface="Calibri"/>
              </a:rPr>
              <a:t>Accident severity level and data source</a:t>
            </a:r>
            <a:endParaRPr lang="en-GB" sz="1800">
              <a:solidFill>
                <a:schemeClr val="tx1"/>
              </a:solidFill>
              <a:latin typeface="Calibri"/>
              <a:ea typeface="Calibri"/>
              <a:cs typeface="Calibri"/>
            </a:endParaRPr>
          </a:p>
          <a:p>
            <a:pPr marL="215900" indent="-215900">
              <a:lnSpc>
                <a:spcPct val="200000"/>
              </a:lnSpc>
            </a:pPr>
            <a:r>
              <a:rPr lang="en-GB" sz="1800" b="1">
                <a:solidFill>
                  <a:schemeClr val="tx1"/>
                </a:solidFill>
                <a:latin typeface="Calibri"/>
                <a:ea typeface="Calibri"/>
                <a:cs typeface="Calibri"/>
              </a:rPr>
              <a:t>Infrastructure / road data: </a:t>
            </a:r>
            <a:r>
              <a:rPr lang="en-GB" sz="1800">
                <a:solidFill>
                  <a:schemeClr val="tx1"/>
                </a:solidFill>
                <a:latin typeface="Calibri"/>
                <a:ea typeface="Calibri"/>
                <a:cs typeface="Calibri"/>
              </a:rPr>
              <a:t>Roundabout, Bump, Crossing, Railway, Traffic signals, Junctions, Nearby airport etc.</a:t>
            </a:r>
          </a:p>
          <a:p>
            <a:pPr marL="215900" indent="-215900">
              <a:lnSpc>
                <a:spcPct val="200000"/>
              </a:lnSpc>
            </a:pPr>
            <a:r>
              <a:rPr lang="en-GB" sz="1800" b="1">
                <a:solidFill>
                  <a:schemeClr val="tx1"/>
                </a:solidFill>
                <a:latin typeface="Calibri"/>
                <a:ea typeface="Calibri"/>
                <a:cs typeface="Calibri"/>
              </a:rPr>
              <a:t>Location data: </a:t>
            </a:r>
            <a:r>
              <a:rPr lang="en-GB" sz="1800">
                <a:solidFill>
                  <a:schemeClr val="tx1"/>
                </a:solidFill>
                <a:latin typeface="Calibri"/>
                <a:ea typeface="Calibri"/>
                <a:cs typeface="Calibri"/>
              </a:rPr>
              <a:t>Address, Pin code, County, City.</a:t>
            </a:r>
          </a:p>
          <a:p>
            <a:pPr marL="215900" indent="-215900">
              <a:lnSpc>
                <a:spcPct val="200000"/>
              </a:lnSpc>
            </a:pPr>
            <a:r>
              <a:rPr lang="en-GB" sz="1800" b="1">
                <a:solidFill>
                  <a:schemeClr val="tx1"/>
                </a:solidFill>
                <a:latin typeface="Calibri"/>
                <a:ea typeface="Calibri"/>
                <a:cs typeface="Calibri"/>
              </a:rPr>
              <a:t>Time data: </a:t>
            </a:r>
            <a:r>
              <a:rPr lang="en-GB" sz="1800">
                <a:solidFill>
                  <a:schemeClr val="tx1"/>
                </a:solidFill>
                <a:latin typeface="Calibri"/>
                <a:ea typeface="Calibri"/>
                <a:cs typeface="Calibri"/>
              </a:rPr>
              <a:t>The date of the accident is captured in YYYY-MM-DD along with the time of the day in HH:MM:SS.</a:t>
            </a:r>
          </a:p>
          <a:p>
            <a:pPr marL="215900" indent="-215900">
              <a:lnSpc>
                <a:spcPct val="200000"/>
              </a:lnSpc>
            </a:pPr>
            <a:r>
              <a:rPr lang="en-GB" sz="1800">
                <a:solidFill>
                  <a:schemeClr val="tx1"/>
                </a:solidFill>
                <a:latin typeface="Calibri"/>
                <a:ea typeface="Calibri"/>
                <a:cs typeface="Calibri"/>
              </a:rPr>
              <a:t>The data also has a few missing columns like End Latitude and End Longitude amongst others.</a:t>
            </a:r>
          </a:p>
          <a:p>
            <a:pPr marL="0" indent="0">
              <a:buNone/>
            </a:pPr>
            <a:endParaRPr lang="en-GB" sz="1800" b="1">
              <a:solidFill>
                <a:schemeClr val="tx1"/>
              </a:solidFill>
              <a:latin typeface="Calibri"/>
              <a:ea typeface="Calibri"/>
              <a:cs typeface="Calibri"/>
            </a:endParaRPr>
          </a:p>
        </p:txBody>
      </p:sp>
      <p:sp>
        <p:nvSpPr>
          <p:cNvPr id="6" name="Footer Placeholder 5">
            <a:extLst>
              <a:ext uri="{FF2B5EF4-FFF2-40B4-BE49-F238E27FC236}">
                <a16:creationId xmlns:a16="http://schemas.microsoft.com/office/drawing/2014/main" id="{200A7C7A-DDD0-F87A-588E-A330417C3016}"/>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B90EE554-E62F-A56A-1B72-855B5663D490}"/>
              </a:ext>
            </a:extLst>
          </p:cNvPr>
          <p:cNvSpPr>
            <a:spLocks noGrp="1"/>
          </p:cNvSpPr>
          <p:nvPr>
            <p:ph type="sldNum" sz="quarter" idx="12"/>
          </p:nvPr>
        </p:nvSpPr>
        <p:spPr/>
        <p:txBody>
          <a:bodyPr/>
          <a:lstStyle/>
          <a:p>
            <a:fld id="{BF1758FF-0BF1-4103-A89A-38EC40E85429}" type="slidenum">
              <a:rPr lang="en-SG" smtClean="0"/>
              <a:t>3</a:t>
            </a:fld>
            <a:endParaRPr lang="en-SG"/>
          </a:p>
        </p:txBody>
      </p:sp>
      <p:sp>
        <p:nvSpPr>
          <p:cNvPr id="2" name="Title 2">
            <a:extLst>
              <a:ext uri="{FF2B5EF4-FFF2-40B4-BE49-F238E27FC236}">
                <a16:creationId xmlns:a16="http://schemas.microsoft.com/office/drawing/2014/main" id="{28F70941-CD88-4026-061D-2BB4017A7858}"/>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latin typeface="Graphik Semibold"/>
              </a:rPr>
              <a:t>Data Overview</a:t>
            </a:r>
            <a:endParaRPr lang="en-IN" b="1">
              <a:solidFill>
                <a:schemeClr val="bg1"/>
              </a:solidFill>
            </a:endParaRPr>
          </a:p>
        </p:txBody>
      </p:sp>
    </p:spTree>
    <p:extLst>
      <p:ext uri="{BB962C8B-B14F-4D97-AF65-F5344CB8AC3E}">
        <p14:creationId xmlns:p14="http://schemas.microsoft.com/office/powerpoint/2010/main" val="2536652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EFAF7-C8E5-7AF3-9D4A-6D54072B92B9}"/>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82B4579A-0086-9750-70C6-171B9C5258BD}"/>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3228F07B-0BF4-B5D8-285B-CDCFF8A40D40}"/>
              </a:ext>
            </a:extLst>
          </p:cNvPr>
          <p:cNvSpPr>
            <a:spLocks noGrp="1"/>
          </p:cNvSpPr>
          <p:nvPr>
            <p:ph type="sldNum" sz="quarter" idx="12"/>
          </p:nvPr>
        </p:nvSpPr>
        <p:spPr/>
        <p:txBody>
          <a:bodyPr/>
          <a:lstStyle/>
          <a:p>
            <a:fld id="{BF1758FF-0BF1-4103-A89A-38EC40E85429}" type="slidenum">
              <a:rPr lang="en-SG" smtClean="0"/>
              <a:t>4</a:t>
            </a:fld>
            <a:endParaRPr lang="en-SG"/>
          </a:p>
        </p:txBody>
      </p:sp>
      <p:sp>
        <p:nvSpPr>
          <p:cNvPr id="2" name="Title 2">
            <a:extLst>
              <a:ext uri="{FF2B5EF4-FFF2-40B4-BE49-F238E27FC236}">
                <a16:creationId xmlns:a16="http://schemas.microsoft.com/office/drawing/2014/main" id="{8ED1BB1E-9716-E838-3FE4-483B604A81E1}"/>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latin typeface="Graphik Semibold"/>
              </a:rPr>
              <a:t>Architecture Diagram</a:t>
            </a:r>
            <a:endParaRPr lang="en-US"/>
          </a:p>
        </p:txBody>
      </p:sp>
      <p:pic>
        <p:nvPicPr>
          <p:cNvPr id="4" name="Content Placeholder 3" descr="A diagram of a software company&#10;&#10;AI-generated content may be incorrect.">
            <a:extLst>
              <a:ext uri="{FF2B5EF4-FFF2-40B4-BE49-F238E27FC236}">
                <a16:creationId xmlns:a16="http://schemas.microsoft.com/office/drawing/2014/main" id="{F103582D-2179-7FEF-5CA3-89364CB8896D}"/>
              </a:ext>
            </a:extLst>
          </p:cNvPr>
          <p:cNvPicPr>
            <a:picLocks noGrp="1" noChangeAspect="1"/>
          </p:cNvPicPr>
          <p:nvPr>
            <p:ph idx="1"/>
          </p:nvPr>
        </p:nvPicPr>
        <p:blipFill>
          <a:blip r:embed="rId2"/>
          <a:stretch>
            <a:fillRect/>
          </a:stretch>
        </p:blipFill>
        <p:spPr>
          <a:xfrm>
            <a:off x="1217927" y="1026795"/>
            <a:ext cx="9953625" cy="4619625"/>
          </a:xfrm>
          <a:prstGeom prst="rect">
            <a:avLst/>
          </a:prstGeom>
        </p:spPr>
      </p:pic>
    </p:spTree>
    <p:extLst>
      <p:ext uri="{BB962C8B-B14F-4D97-AF65-F5344CB8AC3E}">
        <p14:creationId xmlns:p14="http://schemas.microsoft.com/office/powerpoint/2010/main" val="1125701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6F829-92F5-ED66-95B2-A3FECC3A9259}"/>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507D7975-BCE3-92A2-B471-1931139CC99D}"/>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79626EFA-94C1-ED86-1931-1B9146DE5520}"/>
              </a:ext>
            </a:extLst>
          </p:cNvPr>
          <p:cNvSpPr>
            <a:spLocks noGrp="1"/>
          </p:cNvSpPr>
          <p:nvPr>
            <p:ph type="sldNum" sz="quarter" idx="12"/>
          </p:nvPr>
        </p:nvSpPr>
        <p:spPr/>
        <p:txBody>
          <a:bodyPr/>
          <a:lstStyle/>
          <a:p>
            <a:fld id="{BF1758FF-0BF1-4103-A89A-38EC40E85429}" type="slidenum">
              <a:rPr lang="en-SG" smtClean="0"/>
              <a:t>5</a:t>
            </a:fld>
            <a:endParaRPr lang="en-SG"/>
          </a:p>
        </p:txBody>
      </p:sp>
      <p:sp>
        <p:nvSpPr>
          <p:cNvPr id="2" name="Title 2">
            <a:extLst>
              <a:ext uri="{FF2B5EF4-FFF2-40B4-BE49-F238E27FC236}">
                <a16:creationId xmlns:a16="http://schemas.microsoft.com/office/drawing/2014/main" id="{EADC4F3C-C1F8-E819-C2F9-57566E83CF86}"/>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latin typeface="Graphik Semibold"/>
              </a:rPr>
              <a:t>Data Preparation and Cleaning</a:t>
            </a:r>
            <a:endParaRPr lang="en-US"/>
          </a:p>
        </p:txBody>
      </p:sp>
      <p:sp>
        <p:nvSpPr>
          <p:cNvPr id="5" name="Content Placeholder 4">
            <a:extLst>
              <a:ext uri="{FF2B5EF4-FFF2-40B4-BE49-F238E27FC236}">
                <a16:creationId xmlns:a16="http://schemas.microsoft.com/office/drawing/2014/main" id="{FDA02FE8-8252-01CC-076E-4FBC9E7A8209}"/>
              </a:ext>
            </a:extLst>
          </p:cNvPr>
          <p:cNvSpPr>
            <a:spLocks noGrp="1"/>
          </p:cNvSpPr>
          <p:nvPr>
            <p:ph idx="1"/>
          </p:nvPr>
        </p:nvSpPr>
        <p:spPr/>
        <p:txBody>
          <a:bodyPr vert="horz" lIns="0" tIns="45720" rIns="0" bIns="45720" rtlCol="0" anchor="t">
            <a:normAutofit/>
          </a:bodyPr>
          <a:lstStyle/>
          <a:p>
            <a:pPr marL="215900" indent="-215900">
              <a:lnSpc>
                <a:spcPct val="200000"/>
              </a:lnSpc>
            </a:pPr>
            <a:endParaRPr lang="en-US" sz="1700">
              <a:solidFill>
                <a:srgbClr val="000000"/>
              </a:solidFill>
              <a:latin typeface="Calibri"/>
              <a:ea typeface="Calibri"/>
              <a:cs typeface="Calibri"/>
            </a:endParaRPr>
          </a:p>
          <a:p>
            <a:pPr marL="215900" indent="-215900"/>
            <a:r>
              <a:rPr lang="en-US" sz="1700">
                <a:solidFill>
                  <a:srgbClr val="000000"/>
                </a:solidFill>
                <a:latin typeface="Calibri"/>
                <a:ea typeface="Calibri"/>
                <a:cs typeface="Calibri"/>
              </a:rPr>
              <a:t>Identification of null values and appropriately treating them. </a:t>
            </a:r>
          </a:p>
          <a:p>
            <a:pPr marL="486410" lvl="1" indent="-215900">
              <a:buFont typeface="Courier New" panose="020B0604020202020204" pitchFamily="34" charset="0"/>
              <a:buChar char="o"/>
            </a:pPr>
            <a:r>
              <a:rPr lang="en-US" sz="1700">
                <a:solidFill>
                  <a:srgbClr val="000000"/>
                </a:solidFill>
                <a:latin typeface="Calibri"/>
                <a:ea typeface="Calibri"/>
                <a:cs typeface="Calibri"/>
              </a:rPr>
              <a:t>Removed null values that have occurred majority of times.</a:t>
            </a:r>
          </a:p>
          <a:p>
            <a:pPr marL="486410" lvl="1" indent="-215900">
              <a:buFont typeface="Courier New" panose="020B0604020202020204" pitchFamily="34" charset="0"/>
              <a:buChar char="o"/>
            </a:pPr>
            <a:r>
              <a:rPr lang="en-US" sz="1700">
                <a:solidFill>
                  <a:srgbClr val="000000"/>
                </a:solidFill>
                <a:latin typeface="Calibri"/>
                <a:ea typeface="Calibri"/>
                <a:cs typeface="Calibri"/>
              </a:rPr>
              <a:t>Null values in columns like </a:t>
            </a:r>
            <a:r>
              <a:rPr lang="en-US" sz="1700" err="1">
                <a:solidFill>
                  <a:srgbClr val="000000"/>
                </a:solidFill>
                <a:latin typeface="Calibri"/>
                <a:ea typeface="Calibri"/>
                <a:cs typeface="Calibri"/>
              </a:rPr>
              <a:t>Zipcode</a:t>
            </a:r>
            <a:r>
              <a:rPr lang="en-US" sz="1700">
                <a:solidFill>
                  <a:srgbClr val="000000"/>
                </a:solidFill>
                <a:latin typeface="Calibri"/>
                <a:ea typeface="Calibri"/>
                <a:cs typeface="Calibri"/>
              </a:rPr>
              <a:t> were treated with the </a:t>
            </a:r>
            <a:r>
              <a:rPr lang="en-US" sz="1700" err="1">
                <a:solidFill>
                  <a:srgbClr val="000000"/>
                </a:solidFill>
                <a:latin typeface="Calibri"/>
                <a:ea typeface="Calibri"/>
                <a:cs typeface="Calibri"/>
              </a:rPr>
              <a:t>zipcode</a:t>
            </a:r>
            <a:r>
              <a:rPr lang="en-US" sz="1700">
                <a:solidFill>
                  <a:srgbClr val="000000"/>
                </a:solidFill>
                <a:latin typeface="Calibri"/>
                <a:ea typeface="Calibri"/>
                <a:cs typeface="Calibri"/>
              </a:rPr>
              <a:t> nearest to the latitude and longitude coordinates,</a:t>
            </a:r>
          </a:p>
          <a:p>
            <a:pPr marL="486410" lvl="1" indent="-215900">
              <a:buFont typeface="Courier New" panose="020B0604020202020204" pitchFamily="34" charset="0"/>
              <a:buChar char="o"/>
            </a:pPr>
            <a:endParaRPr lang="en-US" sz="1700">
              <a:solidFill>
                <a:srgbClr val="000000"/>
              </a:solidFill>
              <a:latin typeface="Calibri"/>
              <a:ea typeface="Calibri"/>
              <a:cs typeface="Calibri"/>
            </a:endParaRPr>
          </a:p>
          <a:p>
            <a:pPr marL="215900" indent="-215900"/>
            <a:r>
              <a:rPr lang="en-US" sz="1700">
                <a:solidFill>
                  <a:srgbClr val="000000"/>
                </a:solidFill>
                <a:latin typeface="Calibri"/>
                <a:ea typeface="Calibri"/>
                <a:cs typeface="Calibri"/>
              </a:rPr>
              <a:t>Preprocessing of "</a:t>
            </a:r>
            <a:r>
              <a:rPr lang="en-US" sz="1700" err="1">
                <a:solidFill>
                  <a:srgbClr val="000000"/>
                </a:solidFill>
                <a:latin typeface="Calibri"/>
                <a:ea typeface="Calibri"/>
                <a:cs typeface="Calibri"/>
              </a:rPr>
              <a:t>Start_Time</a:t>
            </a:r>
            <a:r>
              <a:rPr lang="en-US" sz="1700">
                <a:solidFill>
                  <a:srgbClr val="000000"/>
                </a:solidFill>
                <a:latin typeface="Calibri"/>
                <a:ea typeface="Calibri"/>
                <a:cs typeface="Calibri"/>
              </a:rPr>
              <a:t>" column.</a:t>
            </a:r>
          </a:p>
          <a:p>
            <a:pPr marL="486410" lvl="1" indent="-215900">
              <a:buFont typeface="Courier New" panose="020B0604020202020204" pitchFamily="34" charset="0"/>
              <a:buChar char="o"/>
            </a:pPr>
            <a:r>
              <a:rPr lang="en-US" sz="1700">
                <a:solidFill>
                  <a:srgbClr val="000000"/>
                </a:solidFill>
                <a:latin typeface="Calibri"/>
                <a:ea typeface="Calibri"/>
                <a:cs typeface="Calibri"/>
              </a:rPr>
              <a:t>The preprocessing of this column helped perform bivariate and multivariate analysis for the accidents with respect to the time of the day and the appropriate weekday. Refer code as below:</a:t>
            </a:r>
          </a:p>
          <a:p>
            <a:pPr marL="486410" lvl="1" indent="-215900">
              <a:buFont typeface="Courier New" panose="020B0604020202020204" pitchFamily="34" charset="0"/>
              <a:buChar char="o"/>
            </a:pPr>
            <a:endParaRPr lang="en-US" sz="1700">
              <a:solidFill>
                <a:srgbClr val="000000"/>
              </a:solidFill>
              <a:latin typeface="Calibri"/>
              <a:ea typeface="Calibri"/>
              <a:cs typeface="Calibri"/>
            </a:endParaRPr>
          </a:p>
          <a:p>
            <a:pPr marL="215900" indent="-215900"/>
            <a:r>
              <a:rPr lang="en-US" sz="1700">
                <a:solidFill>
                  <a:srgbClr val="000000"/>
                </a:solidFill>
                <a:latin typeface="Calibri"/>
                <a:ea typeface="Calibri"/>
                <a:cs typeface="Calibri"/>
              </a:rPr>
              <a:t>A set of rows after 01-01-2020 were selected to reduce the computational effort for running the code. The data challenges will be addressed at the end.</a:t>
            </a:r>
          </a:p>
          <a:p>
            <a:pPr marL="215900" indent="-215900"/>
            <a:endParaRPr lang="en-US" sz="1700">
              <a:solidFill>
                <a:srgbClr val="000000"/>
              </a:solidFill>
              <a:latin typeface="Calibri"/>
              <a:ea typeface="Calibri"/>
              <a:cs typeface="Calibri"/>
            </a:endParaRPr>
          </a:p>
          <a:p>
            <a:pPr marL="215900" indent="-215900"/>
            <a:r>
              <a:rPr lang="en-US" sz="1700">
                <a:solidFill>
                  <a:srgbClr val="000000"/>
                </a:solidFill>
                <a:latin typeface="Calibri"/>
                <a:ea typeface="Calibri"/>
                <a:cs typeface="Calibri"/>
              </a:rPr>
              <a:t>Data Leakage: We removed columns that constitute 100% of the data.</a:t>
            </a:r>
          </a:p>
          <a:p>
            <a:pPr marL="270510" lvl="1" indent="0">
              <a:buNone/>
            </a:pPr>
            <a:endParaRPr lang="en-US" sz="1700">
              <a:latin typeface="Calibri"/>
              <a:ea typeface="Calibri"/>
              <a:cs typeface="Calibri"/>
            </a:endParaRPr>
          </a:p>
          <a:p>
            <a:pPr marL="486410" lvl="1" indent="-215900">
              <a:buFont typeface="Courier New" panose="020B0604020202020204" pitchFamily="34" charset="0"/>
              <a:buChar char="o"/>
            </a:pPr>
            <a:endParaRPr lang="en-US" sz="1700">
              <a:latin typeface="Calibri"/>
              <a:ea typeface="Calibri"/>
              <a:cs typeface="Calibri"/>
            </a:endParaRPr>
          </a:p>
          <a:p>
            <a:pPr marL="215900" indent="-215900"/>
            <a:endParaRPr lang="en-US" sz="1900">
              <a:latin typeface="Calibri"/>
              <a:ea typeface="Calibri"/>
              <a:cs typeface="Calibri"/>
            </a:endParaRPr>
          </a:p>
        </p:txBody>
      </p:sp>
    </p:spTree>
    <p:extLst>
      <p:ext uri="{BB962C8B-B14F-4D97-AF65-F5344CB8AC3E}">
        <p14:creationId xmlns:p14="http://schemas.microsoft.com/office/powerpoint/2010/main" val="1626665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C5CF6-1342-A670-431B-5937F056AA0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8C1D7B5-3FB4-CF4D-F7E7-2D8FAD515A11}"/>
              </a:ext>
            </a:extLst>
          </p:cNvPr>
          <p:cNvSpPr>
            <a:spLocks noGrp="1"/>
          </p:cNvSpPr>
          <p:nvPr>
            <p:ph type="title" idx="4294967295"/>
          </p:nvPr>
        </p:nvSpPr>
        <p:spPr>
          <a:xfrm>
            <a:off x="457201" y="594359"/>
            <a:ext cx="1978181" cy="2286000"/>
          </a:xfrm>
        </p:spPr>
        <p:txBody>
          <a:bodyPr>
            <a:normAutofit/>
          </a:bodyPr>
          <a:lstStyle/>
          <a:p>
            <a:r>
              <a:rPr lang="en-US" sz="2800" b="1">
                <a:solidFill>
                  <a:schemeClr val="bg1"/>
                </a:solidFill>
              </a:rPr>
              <a:t>Data Exploration</a:t>
            </a:r>
            <a:endParaRPr lang="en-SG" sz="2800">
              <a:solidFill>
                <a:schemeClr val="bg1"/>
              </a:solidFill>
            </a:endParaRPr>
          </a:p>
        </p:txBody>
      </p:sp>
      <p:graphicFrame>
        <p:nvGraphicFramePr>
          <p:cNvPr id="12" name="Content Placeholder 8">
            <a:extLst>
              <a:ext uri="{FF2B5EF4-FFF2-40B4-BE49-F238E27FC236}">
                <a16:creationId xmlns:a16="http://schemas.microsoft.com/office/drawing/2014/main" id="{6D404898-5F06-236C-AB41-177CFD47F489}"/>
              </a:ext>
            </a:extLst>
          </p:cNvPr>
          <p:cNvGraphicFramePr>
            <a:graphicFrameLocks noGrp="1"/>
          </p:cNvGraphicFramePr>
          <p:nvPr>
            <p:ph idx="1"/>
          </p:nvPr>
        </p:nvGraphicFramePr>
        <p:xfrm>
          <a:off x="606583" y="823864"/>
          <a:ext cx="6025809" cy="5357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ooter Placeholder 5">
            <a:extLst>
              <a:ext uri="{FF2B5EF4-FFF2-40B4-BE49-F238E27FC236}">
                <a16:creationId xmlns:a16="http://schemas.microsoft.com/office/drawing/2014/main" id="{AB0C941D-2B10-470D-2420-2FB68C49D4E8}"/>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6B55A6CC-E25C-2480-8EBA-DEFA132EF54C}"/>
              </a:ext>
            </a:extLst>
          </p:cNvPr>
          <p:cNvSpPr>
            <a:spLocks noGrp="1"/>
          </p:cNvSpPr>
          <p:nvPr>
            <p:ph type="sldNum" sz="quarter" idx="12"/>
          </p:nvPr>
        </p:nvSpPr>
        <p:spPr/>
        <p:txBody>
          <a:bodyPr/>
          <a:lstStyle/>
          <a:p>
            <a:fld id="{BF1758FF-0BF1-4103-A89A-38EC40E85429}" type="slidenum">
              <a:rPr lang="en-SG" smtClean="0"/>
              <a:t>6</a:t>
            </a:fld>
            <a:endParaRPr lang="en-SG"/>
          </a:p>
        </p:txBody>
      </p:sp>
      <p:sp>
        <p:nvSpPr>
          <p:cNvPr id="2" name="Title 2">
            <a:extLst>
              <a:ext uri="{FF2B5EF4-FFF2-40B4-BE49-F238E27FC236}">
                <a16:creationId xmlns:a16="http://schemas.microsoft.com/office/drawing/2014/main" id="{C6F4C643-FDF7-CF2D-3873-AB7F3ED0C85A}"/>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latin typeface="Graphik Semibold"/>
              </a:rPr>
              <a:t>EDA - General </a:t>
            </a:r>
            <a:endParaRPr lang="en-IN" b="1">
              <a:solidFill>
                <a:schemeClr val="bg1"/>
              </a:solidFill>
              <a:latin typeface="Graphik Semibold"/>
            </a:endParaRPr>
          </a:p>
        </p:txBody>
      </p:sp>
      <p:pic>
        <p:nvPicPr>
          <p:cNvPr id="71" name="Picture 70" descr="A graph with blue rectangular bars&#10;&#10;AI-generated content may be incorrect.">
            <a:extLst>
              <a:ext uri="{FF2B5EF4-FFF2-40B4-BE49-F238E27FC236}">
                <a16:creationId xmlns:a16="http://schemas.microsoft.com/office/drawing/2014/main" id="{81CAA3FE-C07F-EEEF-188E-01F9A885295C}"/>
              </a:ext>
            </a:extLst>
          </p:cNvPr>
          <p:cNvPicPr>
            <a:picLocks noChangeAspect="1"/>
          </p:cNvPicPr>
          <p:nvPr/>
        </p:nvPicPr>
        <p:blipFill>
          <a:blip r:embed="rId7"/>
          <a:stretch>
            <a:fillRect/>
          </a:stretch>
        </p:blipFill>
        <p:spPr>
          <a:xfrm>
            <a:off x="6189662" y="1737139"/>
            <a:ext cx="5400675" cy="4267200"/>
          </a:xfrm>
          <a:prstGeom prst="rect">
            <a:avLst/>
          </a:prstGeom>
        </p:spPr>
      </p:pic>
    </p:spTree>
    <p:extLst>
      <p:ext uri="{BB962C8B-B14F-4D97-AF65-F5344CB8AC3E}">
        <p14:creationId xmlns:p14="http://schemas.microsoft.com/office/powerpoint/2010/main" val="953714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B4ABD-FEDA-4550-0F9C-905254AB1C6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CA7722D-D39C-9E11-40F6-FFF77D2D12A9}"/>
              </a:ext>
            </a:extLst>
          </p:cNvPr>
          <p:cNvSpPr>
            <a:spLocks noGrp="1"/>
          </p:cNvSpPr>
          <p:nvPr>
            <p:ph type="title" idx="4294967295"/>
          </p:nvPr>
        </p:nvSpPr>
        <p:spPr>
          <a:xfrm>
            <a:off x="457201" y="594359"/>
            <a:ext cx="1978181" cy="2286000"/>
          </a:xfrm>
        </p:spPr>
        <p:txBody>
          <a:bodyPr>
            <a:normAutofit/>
          </a:bodyPr>
          <a:lstStyle/>
          <a:p>
            <a:r>
              <a:rPr lang="en-US" sz="2800" b="1">
                <a:solidFill>
                  <a:schemeClr val="bg1"/>
                </a:solidFill>
              </a:rPr>
              <a:t>Data Exploration</a:t>
            </a:r>
            <a:endParaRPr lang="en-SG" sz="2800">
              <a:solidFill>
                <a:schemeClr val="bg1"/>
              </a:solidFill>
            </a:endParaRPr>
          </a:p>
        </p:txBody>
      </p:sp>
      <p:sp>
        <p:nvSpPr>
          <p:cNvPr id="7" name="Slide Number Placeholder 6">
            <a:extLst>
              <a:ext uri="{FF2B5EF4-FFF2-40B4-BE49-F238E27FC236}">
                <a16:creationId xmlns:a16="http://schemas.microsoft.com/office/drawing/2014/main" id="{010F9E71-DDEA-5DF2-790E-C36438EFEE12}"/>
              </a:ext>
            </a:extLst>
          </p:cNvPr>
          <p:cNvSpPr>
            <a:spLocks noGrp="1"/>
          </p:cNvSpPr>
          <p:nvPr>
            <p:ph type="sldNum" sz="quarter" idx="12"/>
          </p:nvPr>
        </p:nvSpPr>
        <p:spPr/>
        <p:txBody>
          <a:bodyPr/>
          <a:lstStyle/>
          <a:p>
            <a:fld id="{BF1758FF-0BF1-4103-A89A-38EC40E85429}" type="slidenum">
              <a:rPr lang="en-SG" smtClean="0"/>
              <a:t>7</a:t>
            </a:fld>
            <a:endParaRPr lang="en-SG"/>
          </a:p>
        </p:txBody>
      </p:sp>
      <p:sp>
        <p:nvSpPr>
          <p:cNvPr id="2" name="Title 2">
            <a:extLst>
              <a:ext uri="{FF2B5EF4-FFF2-40B4-BE49-F238E27FC236}">
                <a16:creationId xmlns:a16="http://schemas.microsoft.com/office/drawing/2014/main" id="{8BA8FE82-DB23-8974-28FB-5AF0ABCF7EA9}"/>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latin typeface="Graphik Semibold"/>
              </a:rPr>
              <a:t>EDA - Multi-variate Analysis</a:t>
            </a:r>
            <a:endParaRPr lang="en-IN" b="1">
              <a:solidFill>
                <a:schemeClr val="bg1"/>
              </a:solidFill>
              <a:latin typeface="Graphik Semibold"/>
            </a:endParaRPr>
          </a:p>
        </p:txBody>
      </p:sp>
      <p:sp>
        <p:nvSpPr>
          <p:cNvPr id="14" name="TextBox 13">
            <a:extLst>
              <a:ext uri="{FF2B5EF4-FFF2-40B4-BE49-F238E27FC236}">
                <a16:creationId xmlns:a16="http://schemas.microsoft.com/office/drawing/2014/main" id="{5472F80F-A075-3DC0-5CB0-FE46169F582E}"/>
              </a:ext>
            </a:extLst>
          </p:cNvPr>
          <p:cNvSpPr txBox="1"/>
          <p:nvPr/>
        </p:nvSpPr>
        <p:spPr>
          <a:xfrm>
            <a:off x="6990594" y="5119525"/>
            <a:ext cx="468667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The data indicates that accident frequencies cluster on weekdays, with pronounced spikes in the morning and evening, coinciding with office commute periods.</a:t>
            </a:r>
            <a:endParaRPr lang="en-US"/>
          </a:p>
        </p:txBody>
      </p:sp>
      <p:pic>
        <p:nvPicPr>
          <p:cNvPr id="11" name="Picture 10">
            <a:extLst>
              <a:ext uri="{FF2B5EF4-FFF2-40B4-BE49-F238E27FC236}">
                <a16:creationId xmlns:a16="http://schemas.microsoft.com/office/drawing/2014/main" id="{4EEB48FA-01BE-0E9B-1004-5139EACA02E9}"/>
              </a:ext>
            </a:extLst>
          </p:cNvPr>
          <p:cNvPicPr>
            <a:picLocks noChangeAspect="1"/>
          </p:cNvPicPr>
          <p:nvPr/>
        </p:nvPicPr>
        <p:blipFill>
          <a:blip r:embed="rId2"/>
          <a:srcRect r="721" b="1946"/>
          <a:stretch>
            <a:fillRect/>
          </a:stretch>
        </p:blipFill>
        <p:spPr>
          <a:xfrm>
            <a:off x="786573" y="790783"/>
            <a:ext cx="4566989" cy="2780656"/>
          </a:xfrm>
          <a:prstGeom prst="rect">
            <a:avLst/>
          </a:prstGeom>
        </p:spPr>
      </p:pic>
      <p:pic>
        <p:nvPicPr>
          <p:cNvPr id="12" name="Picture 11" descr="A graph of a number of bars&#10;&#10;AI-generated content may be incorrect.">
            <a:extLst>
              <a:ext uri="{FF2B5EF4-FFF2-40B4-BE49-F238E27FC236}">
                <a16:creationId xmlns:a16="http://schemas.microsoft.com/office/drawing/2014/main" id="{019E1A65-6753-17FB-1428-CDFD136A7DD1}"/>
              </a:ext>
            </a:extLst>
          </p:cNvPr>
          <p:cNvPicPr>
            <a:picLocks noChangeAspect="1"/>
          </p:cNvPicPr>
          <p:nvPr/>
        </p:nvPicPr>
        <p:blipFill>
          <a:blip r:embed="rId3"/>
          <a:stretch>
            <a:fillRect/>
          </a:stretch>
        </p:blipFill>
        <p:spPr>
          <a:xfrm>
            <a:off x="411094" y="3595824"/>
            <a:ext cx="5262770" cy="3266524"/>
          </a:xfrm>
          <a:prstGeom prst="rect">
            <a:avLst/>
          </a:prstGeom>
        </p:spPr>
      </p:pic>
      <p:pic>
        <p:nvPicPr>
          <p:cNvPr id="16" name="Content Placeholder 15" descr="A chart of a accident count&#10;&#10;AI-generated content may be incorrect.">
            <a:extLst>
              <a:ext uri="{FF2B5EF4-FFF2-40B4-BE49-F238E27FC236}">
                <a16:creationId xmlns:a16="http://schemas.microsoft.com/office/drawing/2014/main" id="{333FCFC4-B624-0C57-C4B6-A5E4FF664513}"/>
              </a:ext>
            </a:extLst>
          </p:cNvPr>
          <p:cNvPicPr>
            <a:picLocks noGrp="1" noChangeAspect="1"/>
          </p:cNvPicPr>
          <p:nvPr>
            <p:ph idx="1"/>
          </p:nvPr>
        </p:nvPicPr>
        <p:blipFill>
          <a:blip r:embed="rId4"/>
          <a:stretch>
            <a:fillRect/>
          </a:stretch>
        </p:blipFill>
        <p:spPr>
          <a:xfrm>
            <a:off x="5791099" y="1195345"/>
            <a:ext cx="6291749" cy="3921540"/>
          </a:xfrm>
          <a:prstGeom prst="rect">
            <a:avLst/>
          </a:prstGeom>
        </p:spPr>
      </p:pic>
    </p:spTree>
    <p:extLst>
      <p:ext uri="{BB962C8B-B14F-4D97-AF65-F5344CB8AC3E}">
        <p14:creationId xmlns:p14="http://schemas.microsoft.com/office/powerpoint/2010/main" val="109164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98445-21AA-F697-1E22-664DC602A61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D618377-20B3-CABA-B3E9-4A242492E7FB}"/>
              </a:ext>
            </a:extLst>
          </p:cNvPr>
          <p:cNvSpPr>
            <a:spLocks noGrp="1"/>
          </p:cNvSpPr>
          <p:nvPr>
            <p:ph type="title" idx="4294967295"/>
          </p:nvPr>
        </p:nvSpPr>
        <p:spPr>
          <a:xfrm>
            <a:off x="457201" y="594359"/>
            <a:ext cx="1978181" cy="2286000"/>
          </a:xfrm>
        </p:spPr>
        <p:txBody>
          <a:bodyPr>
            <a:normAutofit/>
          </a:bodyPr>
          <a:lstStyle/>
          <a:p>
            <a:r>
              <a:rPr lang="en-US" sz="2800" b="1">
                <a:solidFill>
                  <a:schemeClr val="bg1"/>
                </a:solidFill>
              </a:rPr>
              <a:t>Data Exploration</a:t>
            </a:r>
            <a:endParaRPr lang="en-SG" sz="2800">
              <a:solidFill>
                <a:schemeClr val="bg1"/>
              </a:solidFill>
            </a:endParaRPr>
          </a:p>
        </p:txBody>
      </p:sp>
      <p:sp>
        <p:nvSpPr>
          <p:cNvPr id="6" name="Footer Placeholder 5">
            <a:extLst>
              <a:ext uri="{FF2B5EF4-FFF2-40B4-BE49-F238E27FC236}">
                <a16:creationId xmlns:a16="http://schemas.microsoft.com/office/drawing/2014/main" id="{A38C446E-BE19-9D7C-6AED-B99DA9AB5D9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646FD7E4-121F-A52E-2097-7EE52849E7BE}"/>
              </a:ext>
            </a:extLst>
          </p:cNvPr>
          <p:cNvSpPr>
            <a:spLocks noGrp="1"/>
          </p:cNvSpPr>
          <p:nvPr>
            <p:ph type="sldNum" sz="quarter" idx="12"/>
          </p:nvPr>
        </p:nvSpPr>
        <p:spPr/>
        <p:txBody>
          <a:bodyPr/>
          <a:lstStyle/>
          <a:p>
            <a:fld id="{BF1758FF-0BF1-4103-A89A-38EC40E85429}" type="slidenum">
              <a:rPr lang="en-SG" smtClean="0"/>
              <a:t>8</a:t>
            </a:fld>
            <a:endParaRPr lang="en-SG"/>
          </a:p>
        </p:txBody>
      </p:sp>
      <p:sp>
        <p:nvSpPr>
          <p:cNvPr id="2" name="Title 2">
            <a:extLst>
              <a:ext uri="{FF2B5EF4-FFF2-40B4-BE49-F238E27FC236}">
                <a16:creationId xmlns:a16="http://schemas.microsoft.com/office/drawing/2014/main" id="{9026197F-4645-63DB-A93A-A249AB1A2A35}"/>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latin typeface="Graphik Semibold"/>
              </a:rPr>
              <a:t>EDA – By season</a:t>
            </a:r>
            <a:endParaRPr lang="en-IN" b="1">
              <a:solidFill>
                <a:schemeClr val="bg1"/>
              </a:solidFill>
              <a:latin typeface="Graphik Semibold"/>
            </a:endParaRPr>
          </a:p>
        </p:txBody>
      </p:sp>
      <p:sp>
        <p:nvSpPr>
          <p:cNvPr id="14" name="TextBox 13">
            <a:extLst>
              <a:ext uri="{FF2B5EF4-FFF2-40B4-BE49-F238E27FC236}">
                <a16:creationId xmlns:a16="http://schemas.microsoft.com/office/drawing/2014/main" id="{C5D39F92-04D2-7AF6-4C47-C9B92888205E}"/>
              </a:ext>
            </a:extLst>
          </p:cNvPr>
          <p:cNvSpPr txBox="1"/>
          <p:nvPr/>
        </p:nvSpPr>
        <p:spPr>
          <a:xfrm>
            <a:off x="328369" y="5192391"/>
            <a:ext cx="1163536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Number of accidents peak during the winter months. This is consistent with our feature classification that shows that the month has a significant contribution to the occurrence of accidents. </a:t>
            </a:r>
          </a:p>
        </p:txBody>
      </p:sp>
      <p:pic>
        <p:nvPicPr>
          <p:cNvPr id="11" name="Picture 10" descr="A graph of blue and yellow shades&#10;&#10;AI-generated content may be incorrect.">
            <a:extLst>
              <a:ext uri="{FF2B5EF4-FFF2-40B4-BE49-F238E27FC236}">
                <a16:creationId xmlns:a16="http://schemas.microsoft.com/office/drawing/2014/main" id="{2770EA27-0636-9B0E-4738-51CCABD6E28A}"/>
              </a:ext>
            </a:extLst>
          </p:cNvPr>
          <p:cNvPicPr>
            <a:picLocks noChangeAspect="1"/>
          </p:cNvPicPr>
          <p:nvPr/>
        </p:nvPicPr>
        <p:blipFill>
          <a:blip r:embed="rId2"/>
          <a:stretch>
            <a:fillRect/>
          </a:stretch>
        </p:blipFill>
        <p:spPr>
          <a:xfrm>
            <a:off x="6162847" y="1054004"/>
            <a:ext cx="5613438" cy="3538135"/>
          </a:xfrm>
          <a:prstGeom prst="rect">
            <a:avLst/>
          </a:prstGeom>
        </p:spPr>
      </p:pic>
      <p:pic>
        <p:nvPicPr>
          <p:cNvPr id="12" name="Picture 11" descr="A graph of a number of people&#10;&#10;AI-generated content may be incorrect.">
            <a:extLst>
              <a:ext uri="{FF2B5EF4-FFF2-40B4-BE49-F238E27FC236}">
                <a16:creationId xmlns:a16="http://schemas.microsoft.com/office/drawing/2014/main" id="{5DC599EA-91F3-5C23-195F-C57FB4B647CB}"/>
              </a:ext>
            </a:extLst>
          </p:cNvPr>
          <p:cNvPicPr>
            <a:picLocks noChangeAspect="1"/>
          </p:cNvPicPr>
          <p:nvPr/>
        </p:nvPicPr>
        <p:blipFill>
          <a:blip r:embed="rId3"/>
          <a:stretch>
            <a:fillRect/>
          </a:stretch>
        </p:blipFill>
        <p:spPr>
          <a:xfrm>
            <a:off x="-4533" y="1054406"/>
            <a:ext cx="6031621" cy="3537333"/>
          </a:xfrm>
          <a:prstGeom prst="rect">
            <a:avLst/>
          </a:prstGeom>
        </p:spPr>
      </p:pic>
    </p:spTree>
    <p:extLst>
      <p:ext uri="{BB962C8B-B14F-4D97-AF65-F5344CB8AC3E}">
        <p14:creationId xmlns:p14="http://schemas.microsoft.com/office/powerpoint/2010/main" val="701083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E7237F-527D-2DDD-BD5A-E75FEC56BC1E}"/>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36F22749-81B9-C6B1-A41A-DACCBC3AEF3A}"/>
              </a:ext>
            </a:extLst>
          </p:cNvPr>
          <p:cNvSpPr>
            <a:spLocks noGrp="1"/>
          </p:cNvSpPr>
          <p:nvPr>
            <p:ph type="sldNum" sz="quarter" idx="12"/>
          </p:nvPr>
        </p:nvSpPr>
        <p:spPr/>
        <p:txBody>
          <a:bodyPr/>
          <a:lstStyle/>
          <a:p>
            <a:fld id="{BF1758FF-0BF1-4103-A89A-38EC40E85429}" type="slidenum">
              <a:rPr lang="en-SG" smtClean="0"/>
              <a:t>9</a:t>
            </a:fld>
            <a:endParaRPr lang="en-SG"/>
          </a:p>
        </p:txBody>
      </p:sp>
      <p:sp>
        <p:nvSpPr>
          <p:cNvPr id="5" name="Title 4">
            <a:extLst>
              <a:ext uri="{FF2B5EF4-FFF2-40B4-BE49-F238E27FC236}">
                <a16:creationId xmlns:a16="http://schemas.microsoft.com/office/drawing/2014/main" id="{5748856D-31D2-B9FA-DBEB-2A1BB4DEBC77}"/>
              </a:ext>
            </a:extLst>
          </p:cNvPr>
          <p:cNvSpPr>
            <a:spLocks noGrp="1"/>
          </p:cNvSpPr>
          <p:nvPr>
            <p:ph type="title" idx="4294967295"/>
          </p:nvPr>
        </p:nvSpPr>
        <p:spPr/>
        <p:txBody>
          <a:bodyPr/>
          <a:lstStyle/>
          <a:p>
            <a:r>
              <a:rPr lang="en-US" sz="2800" b="1">
                <a:solidFill>
                  <a:schemeClr val="bg1"/>
                </a:solidFill>
                <a:latin typeface="Graphik Semibold"/>
              </a:rPr>
              <a:t>EDA – By cities and states</a:t>
            </a:r>
          </a:p>
        </p:txBody>
      </p:sp>
      <p:pic>
        <p:nvPicPr>
          <p:cNvPr id="6" name="Picture 5" descr="A graph of accident statistics&#10;&#10;AI-generated content may be incorrect.">
            <a:extLst>
              <a:ext uri="{FF2B5EF4-FFF2-40B4-BE49-F238E27FC236}">
                <a16:creationId xmlns:a16="http://schemas.microsoft.com/office/drawing/2014/main" id="{9E696D55-2312-21BA-BD23-8D5FDF2DCB4D}"/>
              </a:ext>
            </a:extLst>
          </p:cNvPr>
          <p:cNvPicPr>
            <a:picLocks noChangeAspect="1"/>
          </p:cNvPicPr>
          <p:nvPr/>
        </p:nvPicPr>
        <p:blipFill>
          <a:blip r:embed="rId2"/>
          <a:stretch>
            <a:fillRect/>
          </a:stretch>
        </p:blipFill>
        <p:spPr>
          <a:xfrm>
            <a:off x="785643" y="1232056"/>
            <a:ext cx="5418490" cy="3933342"/>
          </a:xfrm>
          <a:prstGeom prst="rect">
            <a:avLst/>
          </a:prstGeom>
        </p:spPr>
      </p:pic>
      <p:pic>
        <p:nvPicPr>
          <p:cNvPr id="7" name="Picture 6" descr="A graph of accident in ca&#10;&#10;AI-generated content may be incorrect.">
            <a:extLst>
              <a:ext uri="{FF2B5EF4-FFF2-40B4-BE49-F238E27FC236}">
                <a16:creationId xmlns:a16="http://schemas.microsoft.com/office/drawing/2014/main" id="{15DE24F2-CAA8-F5F3-7547-0EDADB0B15A2}"/>
              </a:ext>
            </a:extLst>
          </p:cNvPr>
          <p:cNvPicPr>
            <a:picLocks noChangeAspect="1"/>
          </p:cNvPicPr>
          <p:nvPr/>
        </p:nvPicPr>
        <p:blipFill>
          <a:blip r:embed="rId3"/>
          <a:stretch>
            <a:fillRect/>
          </a:stretch>
        </p:blipFill>
        <p:spPr>
          <a:xfrm>
            <a:off x="6389691" y="1233828"/>
            <a:ext cx="5438774" cy="4257675"/>
          </a:xfrm>
          <a:prstGeom prst="rect">
            <a:avLst/>
          </a:prstGeom>
        </p:spPr>
      </p:pic>
    </p:spTree>
    <p:extLst>
      <p:ext uri="{BB962C8B-B14F-4D97-AF65-F5344CB8AC3E}">
        <p14:creationId xmlns:p14="http://schemas.microsoft.com/office/powerpoint/2010/main" val="3022542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5EEB2-8F53-DC93-A0B0-871321B1C6DE}"/>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5C6E867-3612-20DF-8244-73D25656518F}"/>
              </a:ext>
            </a:extLst>
          </p:cNvPr>
          <p:cNvSpPr>
            <a:spLocks noGrp="1"/>
          </p:cNvSpPr>
          <p:nvPr>
            <p:ph idx="1"/>
          </p:nvPr>
        </p:nvSpPr>
        <p:spPr>
          <a:xfrm>
            <a:off x="606582" y="988584"/>
            <a:ext cx="10846052" cy="880853"/>
          </a:xfrm>
        </p:spPr>
        <p:txBody>
          <a:bodyPr vert="horz" lIns="0" tIns="45720" rIns="0" bIns="45720" rtlCol="0" anchor="t">
            <a:normAutofit/>
          </a:bodyPr>
          <a:lstStyle/>
          <a:p>
            <a:pPr marL="486410" lvl="1"/>
            <a:r>
              <a:rPr lang="en-US" sz="1600">
                <a:solidFill>
                  <a:schemeClr val="tx1"/>
                </a:solidFill>
                <a:latin typeface="Graphik Regular"/>
                <a:hlinkClick r:id="rId2">
                  <a:extLst>
                    <a:ext uri="{A12FA001-AC4F-418D-AE19-62706E023703}">
                      <ahyp:hlinkClr xmlns:ahyp="http://schemas.microsoft.com/office/drawing/2018/hyperlinkcolor" val="tx"/>
                    </a:ext>
                  </a:extLst>
                </a:hlinkClick>
              </a:rPr>
              <a:t>HeatMap</a:t>
            </a:r>
            <a:r>
              <a:rPr lang="en-US" sz="1600">
                <a:solidFill>
                  <a:schemeClr val="tx1"/>
                </a:solidFill>
                <a:latin typeface="Graphik Regular"/>
              </a:rPr>
              <a:t> can be used to understand the dense regions with high accident probability.</a:t>
            </a:r>
          </a:p>
          <a:p>
            <a:pPr marL="486410" lvl="1"/>
            <a:r>
              <a:rPr lang="en-US" sz="1600">
                <a:solidFill>
                  <a:schemeClr val="tx1"/>
                </a:solidFill>
                <a:latin typeface="Graphik Regular"/>
              </a:rPr>
              <a:t>It is an interactive way of checking across the country / county / state to find most common accident hotspots which can be used to by authorities to deploy the right resources like police personnel or add safety protocols in the region.</a:t>
            </a:r>
            <a:endParaRPr lang="en-US" sz="1600">
              <a:solidFill>
                <a:schemeClr val="tx1"/>
              </a:solidFill>
            </a:endParaRPr>
          </a:p>
        </p:txBody>
      </p:sp>
      <p:sp>
        <p:nvSpPr>
          <p:cNvPr id="6" name="Footer Placeholder 5">
            <a:extLst>
              <a:ext uri="{FF2B5EF4-FFF2-40B4-BE49-F238E27FC236}">
                <a16:creationId xmlns:a16="http://schemas.microsoft.com/office/drawing/2014/main" id="{12E996F3-EA5C-AF40-08BA-CA4A7F0BADBE}"/>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FC92D0CD-8EE4-0248-74AC-635F70AD8C31}"/>
              </a:ext>
            </a:extLst>
          </p:cNvPr>
          <p:cNvSpPr>
            <a:spLocks noGrp="1"/>
          </p:cNvSpPr>
          <p:nvPr>
            <p:ph type="sldNum" sz="quarter" idx="12"/>
          </p:nvPr>
        </p:nvSpPr>
        <p:spPr/>
        <p:txBody>
          <a:bodyPr/>
          <a:lstStyle/>
          <a:p>
            <a:fld id="{BF1758FF-0BF1-4103-A89A-38EC40E85429}" type="slidenum">
              <a:rPr lang="en-SG" smtClean="0"/>
              <a:t>10</a:t>
            </a:fld>
            <a:endParaRPr lang="en-SG"/>
          </a:p>
        </p:txBody>
      </p:sp>
      <p:sp>
        <p:nvSpPr>
          <p:cNvPr id="2" name="Title 2">
            <a:extLst>
              <a:ext uri="{FF2B5EF4-FFF2-40B4-BE49-F238E27FC236}">
                <a16:creationId xmlns:a16="http://schemas.microsoft.com/office/drawing/2014/main" id="{4D917301-987D-02A7-49D8-4427B3C8B024}"/>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err="1">
                <a:solidFill>
                  <a:schemeClr val="bg1"/>
                </a:solidFill>
                <a:latin typeface="Graphik Semibold"/>
              </a:rPr>
              <a:t>HeatMap</a:t>
            </a:r>
            <a:endParaRPr lang="en-IN" sz="2800" b="1" err="1">
              <a:solidFill>
                <a:schemeClr val="bg1"/>
              </a:solidFill>
            </a:endParaRPr>
          </a:p>
        </p:txBody>
      </p:sp>
      <p:pic>
        <p:nvPicPr>
          <p:cNvPr id="3" name="Picture 2" descr="A map of the united states&#10;&#10;AI-generated content may be incorrect.">
            <a:extLst>
              <a:ext uri="{FF2B5EF4-FFF2-40B4-BE49-F238E27FC236}">
                <a16:creationId xmlns:a16="http://schemas.microsoft.com/office/drawing/2014/main" id="{740284AD-3AD6-7B7B-C9D1-EE0791723C07}"/>
              </a:ext>
            </a:extLst>
          </p:cNvPr>
          <p:cNvPicPr>
            <a:picLocks noChangeAspect="1"/>
          </p:cNvPicPr>
          <p:nvPr/>
        </p:nvPicPr>
        <p:blipFill>
          <a:blip r:embed="rId3"/>
          <a:stretch>
            <a:fillRect/>
          </a:stretch>
        </p:blipFill>
        <p:spPr>
          <a:xfrm>
            <a:off x="112923" y="2226898"/>
            <a:ext cx="5943600" cy="3524250"/>
          </a:xfrm>
          <a:prstGeom prst="rect">
            <a:avLst/>
          </a:prstGeom>
        </p:spPr>
      </p:pic>
      <p:sp>
        <p:nvSpPr>
          <p:cNvPr id="4" name="TextBox 3">
            <a:extLst>
              <a:ext uri="{FF2B5EF4-FFF2-40B4-BE49-F238E27FC236}">
                <a16:creationId xmlns:a16="http://schemas.microsoft.com/office/drawing/2014/main" id="{13813B8A-4F11-EC94-16DC-B787A421739B}"/>
              </a:ext>
            </a:extLst>
          </p:cNvPr>
          <p:cNvSpPr txBox="1"/>
          <p:nvPr/>
        </p:nvSpPr>
        <p:spPr>
          <a:xfrm>
            <a:off x="6096000" y="2051891"/>
            <a:ext cx="6096000" cy="7797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ts val="1569"/>
              </a:lnSpc>
            </a:pPr>
            <a:endParaRPr lang="en-US" sz="1200">
              <a:latin typeface="Aptos"/>
              <a:ea typeface="Segoe UI"/>
              <a:cs typeface="Segoe UI"/>
            </a:endParaRPr>
          </a:p>
          <a:p>
            <a:pPr rtl="0">
              <a:lnSpc>
                <a:spcPts val="1569"/>
              </a:lnSpc>
            </a:pPr>
            <a:r>
              <a:rPr lang="en-US" sz="1200">
                <a:latin typeface="Aptos"/>
                <a:ea typeface="Segoe UI"/>
                <a:cs typeface="Segoe UI"/>
              </a:rPr>
              <a:t>A further drill down into a specific zone of California is shown below for reference.</a:t>
            </a:r>
            <a:r>
              <a:rPr sz="1200">
                <a:latin typeface="Aptos"/>
                <a:ea typeface="Aptos"/>
                <a:cs typeface="Aptos"/>
              </a:rPr>
              <a:t> </a:t>
            </a:r>
          </a:p>
          <a:p>
            <a:pPr algn="ctr"/>
            <a:endParaRPr lang="en-US"/>
          </a:p>
        </p:txBody>
      </p:sp>
      <p:pic>
        <p:nvPicPr>
          <p:cNvPr id="10" name="Picture 9">
            <a:extLst>
              <a:ext uri="{FF2B5EF4-FFF2-40B4-BE49-F238E27FC236}">
                <a16:creationId xmlns:a16="http://schemas.microsoft.com/office/drawing/2014/main" id="{EEB7C9CE-E972-0DEE-5CF4-A3ED44651EA2}"/>
              </a:ext>
            </a:extLst>
          </p:cNvPr>
          <p:cNvPicPr>
            <a:picLocks noChangeAspect="1"/>
          </p:cNvPicPr>
          <p:nvPr/>
        </p:nvPicPr>
        <p:blipFill>
          <a:blip r:embed="rId4"/>
          <a:srcRect l="-544" r="29057" b="254"/>
          <a:stretch>
            <a:fillRect/>
          </a:stretch>
        </p:blipFill>
        <p:spPr>
          <a:xfrm>
            <a:off x="6539429" y="2496181"/>
            <a:ext cx="4248883" cy="3600813"/>
          </a:xfrm>
          <a:prstGeom prst="rect">
            <a:avLst/>
          </a:prstGeom>
        </p:spPr>
      </p:pic>
    </p:spTree>
    <p:extLst>
      <p:ext uri="{BB962C8B-B14F-4D97-AF65-F5344CB8AC3E}">
        <p14:creationId xmlns:p14="http://schemas.microsoft.com/office/powerpoint/2010/main" val="463555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57477-10A1-1345-0B4A-27D0DF593A83}"/>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E07C36A4-3F49-C355-EACB-09F355E750DF}"/>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E6281106-63F1-00CE-5AF7-F1300118D119}"/>
              </a:ext>
            </a:extLst>
          </p:cNvPr>
          <p:cNvSpPr>
            <a:spLocks noGrp="1"/>
          </p:cNvSpPr>
          <p:nvPr>
            <p:ph type="sldNum" sz="quarter" idx="12"/>
          </p:nvPr>
        </p:nvSpPr>
        <p:spPr/>
        <p:txBody>
          <a:bodyPr/>
          <a:lstStyle/>
          <a:p>
            <a:fld id="{BF1758FF-0BF1-4103-A89A-38EC40E85429}" type="slidenum">
              <a:rPr lang="en-SG" smtClean="0"/>
              <a:t>11</a:t>
            </a:fld>
            <a:endParaRPr lang="en-SG"/>
          </a:p>
        </p:txBody>
      </p:sp>
      <p:sp>
        <p:nvSpPr>
          <p:cNvPr id="14" name="TextBox 13">
            <a:extLst>
              <a:ext uri="{FF2B5EF4-FFF2-40B4-BE49-F238E27FC236}">
                <a16:creationId xmlns:a16="http://schemas.microsoft.com/office/drawing/2014/main" id="{6CFA6DDE-711A-A70A-6A19-912AA4162B41}"/>
              </a:ext>
            </a:extLst>
          </p:cNvPr>
          <p:cNvSpPr txBox="1"/>
          <p:nvPr/>
        </p:nvSpPr>
        <p:spPr>
          <a:xfrm>
            <a:off x="606582" y="662293"/>
            <a:ext cx="10978270" cy="6093976"/>
          </a:xfrm>
          <a:prstGeom prst="rect">
            <a:avLst/>
          </a:prstGeom>
          <a:noFill/>
        </p:spPr>
        <p:txBody>
          <a:bodyPr wrap="square" lIns="91440" tIns="45720" rIns="91440" bIns="45720" anchor="t">
            <a:spAutoFit/>
          </a:bodyPr>
          <a:lstStyle/>
          <a:p>
            <a:r>
              <a:rPr lang="en-US" sz="1200" b="1">
                <a:solidFill>
                  <a:srgbClr val="1F1F1F"/>
                </a:solidFill>
                <a:ea typeface="+mn-lt"/>
                <a:cs typeface="+mn-lt"/>
              </a:rPr>
              <a:t>Target Variable selection:</a:t>
            </a:r>
            <a:r>
              <a:rPr lang="en-US" sz="1200">
                <a:solidFill>
                  <a:srgbClr val="1F1F1F"/>
                </a:solidFill>
                <a:ea typeface="+mn-lt"/>
                <a:cs typeface="+mn-lt"/>
              </a:rPr>
              <a:t> </a:t>
            </a:r>
            <a:endParaRPr lang="en-US">
              <a:ea typeface="Calibri" panose="020F0502020204030204"/>
              <a:cs typeface="Calibri" panose="020F0502020204030204"/>
            </a:endParaRPr>
          </a:p>
          <a:p>
            <a:pPr marL="285750" indent="-285750">
              <a:buFont typeface="Arial"/>
              <a:buChar char="•"/>
            </a:pPr>
            <a:r>
              <a:rPr lang="en-US" sz="1200">
                <a:solidFill>
                  <a:srgbClr val="1F1F1F"/>
                </a:solidFill>
                <a:ea typeface="+mn-lt"/>
                <a:cs typeface="+mn-lt"/>
              </a:rPr>
              <a:t>Severity with 4 classes (1,2 3,4)</a:t>
            </a:r>
            <a:endParaRPr lang="en-US">
              <a:ea typeface="+mn-lt"/>
              <a:cs typeface="+mn-lt"/>
            </a:endParaRPr>
          </a:p>
          <a:p>
            <a:r>
              <a:rPr lang="en-US" sz="1200">
                <a:solidFill>
                  <a:srgbClr val="1F1F1F"/>
                </a:solidFill>
                <a:ea typeface="+mn-lt"/>
                <a:cs typeface="+mn-lt"/>
              </a:rPr>
              <a:t> </a:t>
            </a:r>
            <a:r>
              <a:rPr lang="en-US" sz="1200" b="1">
                <a:solidFill>
                  <a:srgbClr val="1F1F1F"/>
                </a:solidFill>
                <a:ea typeface="+mn-lt"/>
                <a:cs typeface="+mn-lt"/>
              </a:rPr>
              <a:t>Feature Engineering</a:t>
            </a:r>
            <a:r>
              <a:rPr lang="en-US" sz="1200" b="1" i="0">
                <a:solidFill>
                  <a:srgbClr val="1F1F1F"/>
                </a:solidFill>
                <a:effectLst/>
                <a:ea typeface="+mn-lt"/>
                <a:cs typeface="+mn-lt"/>
              </a:rPr>
              <a:t>:</a:t>
            </a:r>
            <a:r>
              <a:rPr lang="en-US" sz="1200">
                <a:solidFill>
                  <a:srgbClr val="1F1F1F"/>
                </a:solidFill>
                <a:ea typeface="+mn-lt"/>
                <a:cs typeface="+mn-lt"/>
              </a:rPr>
              <a:t> </a:t>
            </a:r>
            <a:endParaRPr lang="en-US">
              <a:ea typeface="Calibri" panose="020F0502020204030204"/>
              <a:cs typeface="Calibri" panose="020F0502020204030204"/>
            </a:endParaRPr>
          </a:p>
          <a:p>
            <a:pPr marL="285750" indent="-285750">
              <a:buFont typeface="Arial"/>
              <a:buChar char="•"/>
            </a:pPr>
            <a:r>
              <a:rPr lang="en-US" sz="1200" b="1">
                <a:solidFill>
                  <a:srgbClr val="1F1F1F"/>
                </a:solidFill>
                <a:ea typeface="+mn-lt"/>
                <a:cs typeface="+mn-lt"/>
              </a:rPr>
              <a:t>Feature Selection:</a:t>
            </a:r>
            <a:r>
              <a:rPr lang="en-US" sz="1200">
                <a:solidFill>
                  <a:srgbClr val="1F1F1F"/>
                </a:solidFill>
                <a:ea typeface="+mn-lt"/>
                <a:cs typeface="+mn-lt"/>
              </a:rPr>
              <a:t> We have used the random forest feature selection based on the feature importance of each feature metric. </a:t>
            </a:r>
            <a:endParaRPr lang="en-US">
              <a:ea typeface="+mn-lt"/>
              <a:cs typeface="+mn-lt"/>
            </a:endParaRPr>
          </a:p>
          <a:p>
            <a:pPr marL="285750" indent="-285750">
              <a:buFont typeface="Arial"/>
              <a:buChar char="•"/>
            </a:pPr>
            <a:r>
              <a:rPr lang="en-US" sz="1200" b="1">
                <a:solidFill>
                  <a:srgbClr val="1F1F1F"/>
                </a:solidFill>
                <a:ea typeface="+mn-lt"/>
                <a:cs typeface="+mn-lt"/>
              </a:rPr>
              <a:t>Feature transformation:</a:t>
            </a:r>
            <a:r>
              <a:rPr lang="en-US" sz="1200">
                <a:solidFill>
                  <a:srgbClr val="1F1F1F"/>
                </a:solidFill>
                <a:ea typeface="+mn-lt"/>
                <a:cs typeface="+mn-lt"/>
              </a:rPr>
              <a:t> We've applied multiple types of transformation across various types of features as per below: </a:t>
            </a:r>
            <a:endParaRPr lang="en-US">
              <a:ea typeface="Calibri" panose="020F0502020204030204"/>
              <a:cs typeface="Calibri" panose="020F0502020204030204"/>
            </a:endParaRPr>
          </a:p>
          <a:p>
            <a:r>
              <a:rPr lang="en-US" sz="1200">
                <a:solidFill>
                  <a:srgbClr val="1F1F1F"/>
                </a:solidFill>
                <a:ea typeface="+mn-lt"/>
                <a:cs typeface="+mn-lt"/>
              </a:rPr>
              <a:t>                                  Numerical features: Applied standard scaler (for features like Temperature, Pressure, Wind Speed etc.)  </a:t>
            </a:r>
            <a:endParaRPr lang="en-US">
              <a:solidFill>
                <a:srgbClr val="000000"/>
              </a:solidFill>
              <a:ea typeface="+mn-lt"/>
              <a:cs typeface="+mn-lt"/>
            </a:endParaRPr>
          </a:p>
          <a:p>
            <a:r>
              <a:rPr lang="en-US" sz="1200">
                <a:solidFill>
                  <a:srgbClr val="1F1F1F"/>
                </a:solidFill>
                <a:ea typeface="+mn-lt"/>
                <a:cs typeface="+mn-lt"/>
              </a:rPr>
              <a:t>                                  Boolean features: Converted to numbers (1/0) (for features like Bump, Stop, Amenity etc.)  (Binary label encoding)</a:t>
            </a:r>
            <a:endParaRPr lang="en-US">
              <a:solidFill>
                <a:srgbClr val="000000"/>
              </a:solidFill>
              <a:ea typeface="+mn-lt"/>
              <a:cs typeface="+mn-lt"/>
            </a:endParaRPr>
          </a:p>
          <a:p>
            <a:r>
              <a:rPr lang="en-US" sz="1200">
                <a:solidFill>
                  <a:srgbClr val="1F1F1F"/>
                </a:solidFill>
                <a:ea typeface="+mn-lt"/>
                <a:cs typeface="+mn-lt"/>
              </a:rPr>
              <a:t>                                   Categorical Features: One hot encoding (for features like (Wind Direction, weather condition etc.) </a:t>
            </a:r>
            <a:endParaRPr lang="en-US">
              <a:solidFill>
                <a:srgbClr val="000000"/>
              </a:solidFill>
              <a:ea typeface="+mn-lt"/>
              <a:cs typeface="+mn-lt"/>
            </a:endParaRPr>
          </a:p>
          <a:p>
            <a:r>
              <a:rPr lang="en-US" sz="1200">
                <a:solidFill>
                  <a:srgbClr val="1F1F1F"/>
                </a:solidFill>
                <a:ea typeface="+mn-lt"/>
                <a:cs typeface="+mn-lt"/>
              </a:rPr>
              <a:t>                                Additon of new features like Month, Days of Week, Season etc. </a:t>
            </a:r>
            <a:endParaRPr lang="en-US">
              <a:solidFill>
                <a:srgbClr val="000000"/>
              </a:solidFill>
              <a:ea typeface="+mn-lt"/>
              <a:cs typeface="+mn-lt"/>
            </a:endParaRPr>
          </a:p>
          <a:p>
            <a:r>
              <a:rPr lang="en-US" sz="1200">
                <a:solidFill>
                  <a:srgbClr val="1F1F1F"/>
                </a:solidFill>
                <a:ea typeface="+mn-lt"/>
                <a:cs typeface="+mn-lt"/>
              </a:rPr>
              <a:t> </a:t>
            </a:r>
          </a:p>
          <a:p>
            <a:pPr marL="285750" indent="-285750">
              <a:buFont typeface="Arial"/>
              <a:buChar char="•"/>
            </a:pPr>
            <a:r>
              <a:rPr lang="en-US" sz="1200" b="1">
                <a:solidFill>
                  <a:srgbClr val="1F1F1F"/>
                </a:solidFill>
                <a:ea typeface="+mn-lt"/>
                <a:cs typeface="+mn-lt"/>
              </a:rPr>
              <a:t>Other Transformations: </a:t>
            </a:r>
            <a:r>
              <a:rPr lang="en-US" sz="1200">
                <a:solidFill>
                  <a:srgbClr val="1F1F1F"/>
                </a:solidFill>
                <a:ea typeface="+mn-lt"/>
                <a:cs typeface="+mn-lt"/>
              </a:rPr>
              <a:t>Applied date filters to remove some historical observation. </a:t>
            </a:r>
            <a:endParaRPr lang="en-US">
              <a:ea typeface="Calibri" panose="020F0502020204030204"/>
              <a:cs typeface="Calibri" panose="020F0502020204030204"/>
            </a:endParaRPr>
          </a:p>
          <a:p>
            <a:r>
              <a:rPr lang="en-US" sz="1200" b="1">
                <a:solidFill>
                  <a:srgbClr val="1F1F1F"/>
                </a:solidFill>
                <a:ea typeface="+mn-lt"/>
                <a:cs typeface="+mn-lt"/>
              </a:rPr>
              <a:t>Train vs Validation vs Test split:</a:t>
            </a:r>
            <a:endParaRPr lang="en-US" b="1">
              <a:ea typeface="+mn-lt"/>
              <a:cs typeface="+mn-lt"/>
            </a:endParaRPr>
          </a:p>
          <a:p>
            <a:pPr marL="285750" indent="-285750">
              <a:buFont typeface="Arial"/>
              <a:buChar char="•"/>
            </a:pPr>
            <a:r>
              <a:rPr lang="en-US" sz="1200">
                <a:solidFill>
                  <a:srgbClr val="1F1F1F"/>
                </a:solidFill>
                <a:ea typeface="+mn-lt"/>
                <a:cs typeface="+mn-lt"/>
              </a:rPr>
              <a:t>Applied train (Jan 2020 to Dec 2021) vs Validation (Jan 2022 to Dec 2022) vs Test (Jan 2023 to Mar 2023) </a:t>
            </a:r>
            <a:endParaRPr lang="en-US">
              <a:ea typeface="Calibri" panose="020F0502020204030204"/>
              <a:cs typeface="Calibri" panose="020F0502020204030204"/>
            </a:endParaRPr>
          </a:p>
          <a:p>
            <a:r>
              <a:rPr lang="en-US" sz="1200" b="1">
                <a:solidFill>
                  <a:srgbClr val="1F1F1F"/>
                </a:solidFill>
                <a:ea typeface="+mn-lt"/>
                <a:cs typeface="+mn-lt"/>
              </a:rPr>
              <a:t>Model Selection:</a:t>
            </a:r>
            <a:r>
              <a:rPr lang="en-US" sz="1200">
                <a:solidFill>
                  <a:srgbClr val="1F1F1F"/>
                </a:solidFill>
                <a:ea typeface="+mn-lt"/>
                <a:cs typeface="+mn-lt"/>
              </a:rPr>
              <a:t> </a:t>
            </a:r>
            <a:endParaRPr lang="en-US">
              <a:ea typeface="Calibri" panose="020F0502020204030204"/>
              <a:cs typeface="Calibri" panose="020F0502020204030204"/>
            </a:endParaRPr>
          </a:p>
          <a:p>
            <a:pPr marL="285750" indent="-285750">
              <a:buFont typeface="Arial"/>
              <a:buChar char="•"/>
            </a:pPr>
            <a:r>
              <a:rPr lang="en-US" sz="1200">
                <a:solidFill>
                  <a:srgbClr val="1F1F1F"/>
                </a:solidFill>
                <a:ea typeface="+mn-lt"/>
                <a:cs typeface="+mn-lt"/>
              </a:rPr>
              <a:t>Ensemble Model combining the following: </a:t>
            </a:r>
            <a:endParaRPr lang="en-US">
              <a:ea typeface="Calibri" panose="020F0502020204030204"/>
              <a:cs typeface="Calibri" panose="020F0502020204030204"/>
            </a:endParaRPr>
          </a:p>
          <a:p>
            <a:r>
              <a:rPr lang="en-US" sz="1200">
                <a:solidFill>
                  <a:srgbClr val="1F1F1F"/>
                </a:solidFill>
                <a:ea typeface="+mn-lt"/>
                <a:cs typeface="+mn-lt"/>
              </a:rPr>
              <a:t>                       Logistic regression </a:t>
            </a:r>
            <a:endParaRPr lang="en-US">
              <a:solidFill>
                <a:srgbClr val="000000"/>
              </a:solidFill>
              <a:ea typeface="+mn-lt"/>
              <a:cs typeface="+mn-lt"/>
            </a:endParaRPr>
          </a:p>
          <a:p>
            <a:r>
              <a:rPr lang="en-US" sz="1200">
                <a:solidFill>
                  <a:srgbClr val="1F1F1F"/>
                </a:solidFill>
                <a:ea typeface="+mn-lt"/>
                <a:cs typeface="+mn-lt"/>
              </a:rPr>
              <a:t>                       Random Forest </a:t>
            </a:r>
            <a:endParaRPr lang="en-US">
              <a:ea typeface="Calibri" panose="020F0502020204030204"/>
              <a:cs typeface="Calibri" panose="020F0502020204030204"/>
            </a:endParaRPr>
          </a:p>
          <a:p>
            <a:r>
              <a:rPr lang="en-US" sz="1200">
                <a:solidFill>
                  <a:srgbClr val="1F1F1F"/>
                </a:solidFill>
                <a:ea typeface="+mn-lt"/>
                <a:cs typeface="+mn-lt"/>
              </a:rPr>
              <a:t>                        </a:t>
            </a:r>
            <a:r>
              <a:rPr lang="en-US" sz="1200" err="1">
                <a:solidFill>
                  <a:srgbClr val="1F1F1F"/>
                </a:solidFill>
                <a:ea typeface="+mn-lt"/>
                <a:cs typeface="+mn-lt"/>
              </a:rPr>
              <a:t>XGBoosting</a:t>
            </a:r>
            <a:r>
              <a:rPr lang="en-US" sz="1200">
                <a:solidFill>
                  <a:srgbClr val="1F1F1F"/>
                </a:solidFill>
                <a:ea typeface="+mn-lt"/>
                <a:cs typeface="+mn-lt"/>
              </a:rPr>
              <a:t> </a:t>
            </a:r>
            <a:endParaRPr lang="en-US">
              <a:ea typeface="Calibri" panose="020F0502020204030204"/>
              <a:cs typeface="Calibri" panose="020F0502020204030204"/>
            </a:endParaRPr>
          </a:p>
          <a:p>
            <a:pPr marL="285750" indent="-285750">
              <a:buFont typeface="Arial"/>
              <a:buChar char="•"/>
            </a:pPr>
            <a:r>
              <a:rPr lang="en-US" sz="1200">
                <a:solidFill>
                  <a:srgbClr val="1F1F1F"/>
                </a:solidFill>
                <a:ea typeface="+mn-lt"/>
                <a:cs typeface="+mn-lt"/>
              </a:rPr>
              <a:t>Final estimator: Multi-nominal logistic regression to get the contribution from each feature.</a:t>
            </a:r>
            <a:endParaRPr lang="en-US">
              <a:ea typeface="Calibri" panose="020F0502020204030204"/>
              <a:cs typeface="Calibri" panose="020F0502020204030204"/>
            </a:endParaRPr>
          </a:p>
          <a:p>
            <a:r>
              <a:rPr lang="en-US" sz="1200" b="1">
                <a:solidFill>
                  <a:srgbClr val="1F1F1F"/>
                </a:solidFill>
                <a:ea typeface="+mn-lt"/>
                <a:cs typeface="+mn-lt"/>
              </a:rPr>
              <a:t>Model Tuning:</a:t>
            </a:r>
            <a:r>
              <a:rPr lang="en-US" sz="1200">
                <a:solidFill>
                  <a:srgbClr val="1F1F1F"/>
                </a:solidFill>
                <a:ea typeface="+mn-lt"/>
                <a:cs typeface="+mn-lt"/>
              </a:rPr>
              <a:t> </a:t>
            </a:r>
            <a:endParaRPr lang="en-US">
              <a:ea typeface="Calibri" panose="020F0502020204030204"/>
              <a:cs typeface="Calibri" panose="020F0502020204030204"/>
            </a:endParaRPr>
          </a:p>
          <a:p>
            <a:pPr marL="285750" indent="-285750">
              <a:buFont typeface="Arial"/>
              <a:buChar char="•"/>
            </a:pPr>
            <a:r>
              <a:rPr lang="en-US" sz="1200">
                <a:solidFill>
                  <a:srgbClr val="1F1F1F"/>
                </a:solidFill>
                <a:ea typeface="+mn-lt"/>
                <a:cs typeface="+mn-lt"/>
              </a:rPr>
              <a:t>Used stratified cross validation / random search which include hyperparameters:</a:t>
            </a:r>
            <a:endParaRPr lang="en-US">
              <a:ea typeface="Calibri" panose="020F0502020204030204"/>
              <a:cs typeface="Calibri" panose="020F0502020204030204"/>
            </a:endParaRPr>
          </a:p>
          <a:p>
            <a:r>
              <a:rPr lang="en-US" sz="1200">
                <a:solidFill>
                  <a:srgbClr val="1F1F1F"/>
                </a:solidFill>
                <a:ea typeface="+mn-lt"/>
                <a:cs typeface="+mn-lt"/>
              </a:rPr>
              <a:t>                       Feature selection threshold, Penalty, Final estimator solver</a:t>
            </a:r>
            <a:endParaRPr lang="en-US">
              <a:ea typeface="Calibri" panose="020F0502020204030204"/>
              <a:cs typeface="Calibri" panose="020F0502020204030204"/>
            </a:endParaRPr>
          </a:p>
          <a:p>
            <a:pPr marL="285750" indent="-285750">
              <a:buFont typeface="Arial"/>
              <a:buChar char="•"/>
            </a:pPr>
            <a:r>
              <a:rPr lang="en-US" sz="1200">
                <a:solidFill>
                  <a:srgbClr val="1F1F1F"/>
                </a:solidFill>
                <a:ea typeface="+mn-lt"/>
                <a:cs typeface="+mn-lt"/>
              </a:rPr>
              <a:t>The key hyperparameters across models included:</a:t>
            </a:r>
            <a:endParaRPr lang="en-US">
              <a:ea typeface="Calibri" panose="020F0502020204030204"/>
              <a:cs typeface="Calibri" panose="020F0502020204030204"/>
            </a:endParaRPr>
          </a:p>
          <a:p>
            <a:r>
              <a:rPr lang="en-US" sz="1200">
                <a:solidFill>
                  <a:srgbClr val="1F1F1F"/>
                </a:solidFill>
                <a:ea typeface="+mn-lt"/>
                <a:cs typeface="+mn-lt"/>
              </a:rPr>
              <a:t>                 Logistic regression: Solver, Maximum no of iterations</a:t>
            </a:r>
            <a:endParaRPr lang="en-US" err="1">
              <a:ea typeface="Calibri" panose="020F0502020204030204"/>
              <a:cs typeface="Calibri" panose="020F0502020204030204"/>
            </a:endParaRPr>
          </a:p>
          <a:p>
            <a:r>
              <a:rPr lang="en-US" sz="1200">
                <a:solidFill>
                  <a:srgbClr val="1F1F1F"/>
                </a:solidFill>
                <a:ea typeface="+mn-lt"/>
                <a:cs typeface="+mn-lt"/>
              </a:rPr>
              <a:t>                        Random Forest: Max Depth, No. of estimators </a:t>
            </a:r>
            <a:endParaRPr lang="en-US">
              <a:ea typeface="Calibri" panose="020F0502020204030204"/>
              <a:cs typeface="Calibri" panose="020F0502020204030204"/>
            </a:endParaRPr>
          </a:p>
          <a:p>
            <a:r>
              <a:rPr lang="en-US" sz="1200">
                <a:solidFill>
                  <a:srgbClr val="1F1F1F"/>
                </a:solidFill>
                <a:ea typeface="+mn-lt"/>
                <a:cs typeface="+mn-lt"/>
              </a:rPr>
              <a:t>                        </a:t>
            </a:r>
            <a:r>
              <a:rPr lang="en-US" sz="1200" err="1">
                <a:solidFill>
                  <a:srgbClr val="1F1F1F"/>
                </a:solidFill>
                <a:ea typeface="+mn-lt"/>
                <a:cs typeface="+mn-lt"/>
              </a:rPr>
              <a:t>XGBoosting</a:t>
            </a:r>
            <a:r>
              <a:rPr lang="en-US" sz="1200">
                <a:solidFill>
                  <a:srgbClr val="1F1F1F"/>
                </a:solidFill>
                <a:ea typeface="+mn-lt"/>
                <a:cs typeface="+mn-lt"/>
              </a:rPr>
              <a:t>: Max Depth, No. of estimators, Learning Rate</a:t>
            </a:r>
            <a:endParaRPr lang="en-US">
              <a:ea typeface="Calibri" panose="020F0502020204030204"/>
              <a:cs typeface="Calibri" panose="020F0502020204030204"/>
            </a:endParaRPr>
          </a:p>
          <a:p>
            <a:r>
              <a:rPr lang="en-US" sz="1200" b="1">
                <a:solidFill>
                  <a:srgbClr val="1F1F1F"/>
                </a:solidFill>
                <a:ea typeface="Calibri" panose="020F0502020204030204"/>
                <a:cs typeface="Calibri" panose="020F0502020204030204"/>
              </a:rPr>
              <a:t>Model Output:</a:t>
            </a:r>
            <a:r>
              <a:rPr lang="en-US" sz="1200">
                <a:solidFill>
                  <a:srgbClr val="1F1F1F"/>
                </a:solidFill>
                <a:ea typeface="Calibri" panose="020F0502020204030204"/>
                <a:cs typeface="Calibri" panose="020F0502020204030204"/>
              </a:rPr>
              <a:t> </a:t>
            </a:r>
            <a:endParaRPr lang="en-US">
              <a:solidFill>
                <a:srgbClr val="000000"/>
              </a:solidFill>
              <a:ea typeface="Calibri" panose="020F0502020204030204"/>
              <a:cs typeface="Calibri" panose="020F0502020204030204"/>
            </a:endParaRPr>
          </a:p>
          <a:p>
            <a:pPr marL="285750" indent="-285750">
              <a:buFont typeface="Arial"/>
              <a:buChar char="•"/>
            </a:pPr>
            <a:r>
              <a:rPr lang="en-US" sz="1200">
                <a:solidFill>
                  <a:srgbClr val="1F1F1F"/>
                </a:solidFill>
                <a:ea typeface="Calibri" panose="020F0502020204030204"/>
                <a:cs typeface="Calibri" panose="020F0502020204030204"/>
              </a:rPr>
              <a:t>Probability of Severity</a:t>
            </a:r>
            <a:endParaRPr lang="en-US">
              <a:solidFill>
                <a:srgbClr val="000000"/>
              </a:solidFill>
              <a:ea typeface="Calibri" panose="020F0502020204030204"/>
              <a:cs typeface="Calibri" panose="020F0502020204030204"/>
            </a:endParaRPr>
          </a:p>
          <a:p>
            <a:pPr marL="285750" indent="-285750">
              <a:buFont typeface="Arial"/>
              <a:buChar char="•"/>
            </a:pPr>
            <a:r>
              <a:rPr lang="en-US" sz="1200">
                <a:solidFill>
                  <a:srgbClr val="1F1F1F"/>
                </a:solidFill>
                <a:ea typeface="Calibri" panose="020F0502020204030204"/>
                <a:cs typeface="Calibri" panose="020F0502020204030204"/>
              </a:rPr>
              <a:t>Class of Severity</a:t>
            </a:r>
            <a:endParaRPr lang="en-US">
              <a:solidFill>
                <a:srgbClr val="000000"/>
              </a:solidFill>
              <a:ea typeface="Calibri" panose="020F0502020204030204"/>
              <a:cs typeface="Calibri" panose="020F0502020204030204"/>
            </a:endParaRPr>
          </a:p>
          <a:p>
            <a:pPr marL="285750" indent="-285750">
              <a:buFont typeface="Arial"/>
              <a:buChar char="•"/>
            </a:pPr>
            <a:r>
              <a:rPr lang="en-US" sz="1200">
                <a:solidFill>
                  <a:srgbClr val="1F1F1F"/>
                </a:solidFill>
                <a:ea typeface="Calibri" panose="020F0502020204030204"/>
                <a:cs typeface="Calibri" panose="020F0502020204030204"/>
              </a:rPr>
              <a:t>Contribution from features towards severity</a:t>
            </a:r>
            <a:endParaRPr lang="en-US">
              <a:solidFill>
                <a:srgbClr val="000000"/>
              </a:solidFill>
              <a:ea typeface="Calibri" panose="020F0502020204030204"/>
              <a:cs typeface="Calibri" panose="020F0502020204030204"/>
            </a:endParaRPr>
          </a:p>
          <a:p>
            <a:endParaRPr lang="en-US"/>
          </a:p>
          <a:p>
            <a:endParaRPr lang="en-US" sz="1200" b="1">
              <a:solidFill>
                <a:srgbClr val="1F1F1F"/>
              </a:solidFill>
              <a:latin typeface="Aptos"/>
              <a:ea typeface="Calibri"/>
              <a:cs typeface="Calibri"/>
            </a:endParaRPr>
          </a:p>
        </p:txBody>
      </p:sp>
      <p:sp>
        <p:nvSpPr>
          <p:cNvPr id="2" name="Title 2">
            <a:extLst>
              <a:ext uri="{FF2B5EF4-FFF2-40B4-BE49-F238E27FC236}">
                <a16:creationId xmlns:a16="http://schemas.microsoft.com/office/drawing/2014/main" id="{8F3946A5-BF09-2FFD-00AF-DC1AE1F814AD}"/>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rPr>
              <a:t>Data </a:t>
            </a:r>
            <a:r>
              <a:rPr lang="en-IN" sz="2800" b="1">
                <a:solidFill>
                  <a:schemeClr val="bg1"/>
                </a:solidFill>
                <a:latin typeface="Graphik Semibold"/>
              </a:rPr>
              <a:t>Modelling</a:t>
            </a:r>
          </a:p>
        </p:txBody>
      </p:sp>
      <p:pic>
        <p:nvPicPr>
          <p:cNvPr id="3" name="Picture 2" descr="A screenshot of a computer&#10;&#10;AI-generated content may be incorrect.">
            <a:extLst>
              <a:ext uri="{FF2B5EF4-FFF2-40B4-BE49-F238E27FC236}">
                <a16:creationId xmlns:a16="http://schemas.microsoft.com/office/drawing/2014/main" id="{79FCF515-F86D-635A-8F91-7236E3D2D22E}"/>
              </a:ext>
            </a:extLst>
          </p:cNvPr>
          <p:cNvPicPr>
            <a:picLocks noChangeAspect="1"/>
          </p:cNvPicPr>
          <p:nvPr/>
        </p:nvPicPr>
        <p:blipFill>
          <a:blip r:embed="rId2"/>
          <a:stretch>
            <a:fillRect/>
          </a:stretch>
        </p:blipFill>
        <p:spPr>
          <a:xfrm>
            <a:off x="7113803" y="3169187"/>
            <a:ext cx="4772025" cy="3482487"/>
          </a:xfrm>
          <a:prstGeom prst="rect">
            <a:avLst/>
          </a:prstGeom>
        </p:spPr>
      </p:pic>
    </p:spTree>
    <p:extLst>
      <p:ext uri="{BB962C8B-B14F-4D97-AF65-F5344CB8AC3E}">
        <p14:creationId xmlns:p14="http://schemas.microsoft.com/office/powerpoint/2010/main" val="1963488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2E73F-BAF4-1817-9D9C-CFD4AA59307A}"/>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35B01006-7C21-F382-ADAC-500282FF4ED7}"/>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815EF367-F73B-E7B7-98AB-516E0F646904}"/>
              </a:ext>
            </a:extLst>
          </p:cNvPr>
          <p:cNvSpPr>
            <a:spLocks noGrp="1"/>
          </p:cNvSpPr>
          <p:nvPr>
            <p:ph type="sldNum" sz="quarter" idx="12"/>
          </p:nvPr>
        </p:nvSpPr>
        <p:spPr/>
        <p:txBody>
          <a:bodyPr/>
          <a:lstStyle/>
          <a:p>
            <a:fld id="{BF1758FF-0BF1-4103-A89A-38EC40E85429}" type="slidenum">
              <a:rPr lang="en-SG" smtClean="0"/>
              <a:t>12</a:t>
            </a:fld>
            <a:endParaRPr lang="en-SG"/>
          </a:p>
        </p:txBody>
      </p:sp>
      <p:sp>
        <p:nvSpPr>
          <p:cNvPr id="2" name="Title 2">
            <a:extLst>
              <a:ext uri="{FF2B5EF4-FFF2-40B4-BE49-F238E27FC236}">
                <a16:creationId xmlns:a16="http://schemas.microsoft.com/office/drawing/2014/main" id="{31C2F256-6105-D4B0-8826-5774E2C3E37C}"/>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latin typeface="Graphik Semibold"/>
              </a:rPr>
              <a:t>Model evaluation and Accuracy</a:t>
            </a:r>
            <a:endParaRPr lang="en-IN" sz="2800" b="1">
              <a:solidFill>
                <a:schemeClr val="bg1"/>
              </a:solidFill>
            </a:endParaRPr>
          </a:p>
        </p:txBody>
      </p:sp>
      <p:sp>
        <p:nvSpPr>
          <p:cNvPr id="3" name="TextBox 2">
            <a:extLst>
              <a:ext uri="{FF2B5EF4-FFF2-40B4-BE49-F238E27FC236}">
                <a16:creationId xmlns:a16="http://schemas.microsoft.com/office/drawing/2014/main" id="{9910C520-98F1-4B71-1AAF-F9C2196B27B2}"/>
              </a:ext>
            </a:extLst>
          </p:cNvPr>
          <p:cNvSpPr txBox="1"/>
          <p:nvPr/>
        </p:nvSpPr>
        <p:spPr>
          <a:xfrm>
            <a:off x="603729" y="945585"/>
            <a:ext cx="11407296" cy="33665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569"/>
              </a:lnSpc>
            </a:pPr>
            <a:r>
              <a:rPr lang="en-US">
                <a:latin typeface="Aptos"/>
                <a:cs typeface="Segoe UI"/>
              </a:rPr>
              <a:t>Gradual improvements of accuracy:</a:t>
            </a:r>
          </a:p>
          <a:p>
            <a:pPr>
              <a:lnSpc>
                <a:spcPts val="1569"/>
              </a:lnSpc>
            </a:pPr>
            <a:endParaRPr lang="en-US">
              <a:latin typeface="Aptos"/>
              <a:cs typeface="Segoe UI"/>
            </a:endParaRPr>
          </a:p>
          <a:p>
            <a:pPr marL="228600" indent="-228600">
              <a:lnSpc>
                <a:spcPts val="1569"/>
              </a:lnSpc>
              <a:buAutoNum type="arabicPeriod"/>
            </a:pPr>
            <a:r>
              <a:rPr lang="en-US">
                <a:latin typeface="Aptos"/>
                <a:cs typeface="Segoe UI"/>
              </a:rPr>
              <a:t>With Only Logistic Regression:  Test Accuracy: 35%, Validation accuracy: 30%</a:t>
            </a:r>
          </a:p>
          <a:p>
            <a:pPr marL="228600" indent="-228600">
              <a:lnSpc>
                <a:spcPts val="1569"/>
              </a:lnSpc>
              <a:buAutoNum type="arabicPeriod"/>
            </a:pPr>
            <a:endParaRPr lang="en-US">
              <a:latin typeface="Aptos"/>
              <a:cs typeface="Segoe UI"/>
            </a:endParaRPr>
          </a:p>
          <a:p>
            <a:pPr marL="228600" indent="-228600">
              <a:lnSpc>
                <a:spcPts val="1569"/>
              </a:lnSpc>
              <a:buAutoNum type="arabicPeriod"/>
            </a:pPr>
            <a:r>
              <a:rPr lang="en-US">
                <a:latin typeface="Aptos"/>
                <a:cs typeface="Segoe UI"/>
              </a:rPr>
              <a:t>With Only Random Forest:  Test Accuracy: 40%, Validation accuracy: 42%</a:t>
            </a:r>
          </a:p>
          <a:p>
            <a:pPr marL="228600" indent="-228600">
              <a:lnSpc>
                <a:spcPts val="1569"/>
              </a:lnSpc>
              <a:buAutoNum type="arabicPeriod"/>
            </a:pPr>
            <a:endParaRPr lang="en-US">
              <a:latin typeface="Aptos"/>
              <a:cs typeface="Segoe UI"/>
            </a:endParaRPr>
          </a:p>
          <a:p>
            <a:pPr marL="228600" indent="-228600">
              <a:lnSpc>
                <a:spcPts val="1569"/>
              </a:lnSpc>
              <a:buAutoNum type="arabicPeriod"/>
            </a:pPr>
            <a:r>
              <a:rPr lang="en-US">
                <a:latin typeface="Aptos"/>
                <a:cs typeface="Segoe UI"/>
              </a:rPr>
              <a:t>With Only </a:t>
            </a:r>
            <a:r>
              <a:rPr lang="en-US" err="1">
                <a:latin typeface="Aptos"/>
                <a:cs typeface="Segoe UI"/>
              </a:rPr>
              <a:t>XGBoost</a:t>
            </a:r>
            <a:r>
              <a:rPr lang="en-US">
                <a:latin typeface="Aptos"/>
                <a:cs typeface="Segoe UI"/>
              </a:rPr>
              <a:t>:  Test Accuracy: 50%, Validation accuracy: 50%</a:t>
            </a:r>
          </a:p>
          <a:p>
            <a:pPr marL="228600" indent="-228600">
              <a:lnSpc>
                <a:spcPts val="1569"/>
              </a:lnSpc>
              <a:buAutoNum type="arabicPeriod"/>
            </a:pPr>
            <a:endParaRPr lang="en-US">
              <a:latin typeface="Aptos"/>
              <a:cs typeface="Segoe UI"/>
            </a:endParaRPr>
          </a:p>
          <a:p>
            <a:pPr marL="228600" indent="-228600">
              <a:lnSpc>
                <a:spcPts val="1569"/>
              </a:lnSpc>
              <a:buAutoNum type="arabicPeriod"/>
            </a:pPr>
            <a:r>
              <a:rPr lang="en-US">
                <a:latin typeface="Aptos"/>
                <a:cs typeface="Segoe UI"/>
              </a:rPr>
              <a:t>With Logistic Regression + Random Forest:  Test Accuracy: 60%, Validation accuracy: 65%</a:t>
            </a:r>
          </a:p>
          <a:p>
            <a:pPr marL="228600" indent="-228600">
              <a:lnSpc>
                <a:spcPts val="1569"/>
              </a:lnSpc>
              <a:buAutoNum type="arabicPeriod"/>
            </a:pPr>
            <a:endParaRPr lang="en-US">
              <a:latin typeface="Aptos"/>
              <a:cs typeface="Segoe UI"/>
            </a:endParaRPr>
          </a:p>
          <a:p>
            <a:pPr marL="228600" indent="-228600">
              <a:lnSpc>
                <a:spcPts val="1569"/>
              </a:lnSpc>
              <a:buAutoNum type="arabicPeriod"/>
            </a:pPr>
            <a:r>
              <a:rPr lang="en-US">
                <a:latin typeface="Aptos"/>
                <a:cs typeface="Segoe UI"/>
              </a:rPr>
              <a:t>With Logistic Regression + Random Forest + </a:t>
            </a:r>
            <a:r>
              <a:rPr lang="en-US" err="1">
                <a:latin typeface="Aptos"/>
                <a:cs typeface="Segoe UI"/>
              </a:rPr>
              <a:t>XGBoost</a:t>
            </a:r>
            <a:r>
              <a:rPr lang="en-US">
                <a:latin typeface="Aptos"/>
                <a:cs typeface="Segoe UI"/>
              </a:rPr>
              <a:t> :  Test Accuracy: 89%, Validation accuracy: 84% (Final model): Train F1 score: 0.9309</a:t>
            </a:r>
            <a:endParaRPr lang="en-US">
              <a:solidFill>
                <a:srgbClr val="000000"/>
              </a:solidFill>
              <a:latin typeface="Aptos"/>
              <a:cs typeface="Segoe UI"/>
            </a:endParaRPr>
          </a:p>
          <a:p>
            <a:pPr marL="228600" indent="-228600">
              <a:lnSpc>
                <a:spcPts val="1569"/>
              </a:lnSpc>
              <a:buAutoNum type="arabicPeriod"/>
            </a:pPr>
            <a:endParaRPr lang="en-US" sz="1200">
              <a:latin typeface="Aptos"/>
              <a:cs typeface="Segoe UI"/>
            </a:endParaRPr>
          </a:p>
          <a:p>
            <a:pPr>
              <a:lnSpc>
                <a:spcPts val="1569"/>
              </a:lnSpc>
            </a:pPr>
            <a:endParaRPr lang="en-US" sz="1200">
              <a:latin typeface="Aptos"/>
              <a:cs typeface="Segoe UI"/>
            </a:endParaRPr>
          </a:p>
          <a:p>
            <a:pPr>
              <a:lnSpc>
                <a:spcPts val="1569"/>
              </a:lnSpc>
            </a:pPr>
            <a:r>
              <a:rPr lang="en-US" sz="2000">
                <a:latin typeface="Aptos"/>
                <a:cs typeface="Segoe UI"/>
              </a:rPr>
              <a:t>Final Confusion Matrix: </a:t>
            </a:r>
          </a:p>
          <a:p>
            <a:pPr marL="228600" indent="-228600">
              <a:lnSpc>
                <a:spcPts val="1569"/>
              </a:lnSpc>
              <a:buAutoNum type="arabicPeriod"/>
            </a:pPr>
            <a:endParaRPr lang="en-US" sz="1200">
              <a:latin typeface="Aptos"/>
              <a:cs typeface="Segoe UI"/>
            </a:endParaRPr>
          </a:p>
        </p:txBody>
      </p:sp>
      <p:graphicFrame>
        <p:nvGraphicFramePr>
          <p:cNvPr id="5" name="Table 4">
            <a:extLst>
              <a:ext uri="{FF2B5EF4-FFF2-40B4-BE49-F238E27FC236}">
                <a16:creationId xmlns:a16="http://schemas.microsoft.com/office/drawing/2014/main" id="{8F36B3AF-1969-1D5E-C12E-3E9A3D5CABDF}"/>
              </a:ext>
            </a:extLst>
          </p:cNvPr>
          <p:cNvGraphicFramePr>
            <a:graphicFrameLocks noGrp="1"/>
          </p:cNvGraphicFramePr>
          <p:nvPr>
            <p:extLst>
              <p:ext uri="{D42A27DB-BD31-4B8C-83A1-F6EECF244321}">
                <p14:modId xmlns:p14="http://schemas.microsoft.com/office/powerpoint/2010/main" val="1213900723"/>
              </p:ext>
            </p:extLst>
          </p:nvPr>
        </p:nvGraphicFramePr>
        <p:xfrm>
          <a:off x="3806570" y="3917191"/>
          <a:ext cx="3657598" cy="2352040"/>
        </p:xfrm>
        <a:graphic>
          <a:graphicData uri="http://schemas.openxmlformats.org/drawingml/2006/table">
            <a:tbl>
              <a:tblPr firstRow="1" firstCol="1" bandRow="1">
                <a:tableStyleId>{5C22544A-7EE6-4342-B048-85BDC9FD1C3A}</a:tableStyleId>
              </a:tblPr>
              <a:tblGrid>
                <a:gridCol w="639131">
                  <a:extLst>
                    <a:ext uri="{9D8B030D-6E8A-4147-A177-3AD203B41FA5}">
                      <a16:colId xmlns:a16="http://schemas.microsoft.com/office/drawing/2014/main" val="408951639"/>
                    </a:ext>
                  </a:extLst>
                </a:gridCol>
                <a:gridCol w="771525">
                  <a:extLst>
                    <a:ext uri="{9D8B030D-6E8A-4147-A177-3AD203B41FA5}">
                      <a16:colId xmlns:a16="http://schemas.microsoft.com/office/drawing/2014/main" val="1791147025"/>
                    </a:ext>
                  </a:extLst>
                </a:gridCol>
                <a:gridCol w="560778">
                  <a:extLst>
                    <a:ext uri="{9D8B030D-6E8A-4147-A177-3AD203B41FA5}">
                      <a16:colId xmlns:a16="http://schemas.microsoft.com/office/drawing/2014/main" val="518326632"/>
                    </a:ext>
                  </a:extLst>
                </a:gridCol>
                <a:gridCol w="693172">
                  <a:extLst>
                    <a:ext uri="{9D8B030D-6E8A-4147-A177-3AD203B41FA5}">
                      <a16:colId xmlns:a16="http://schemas.microsoft.com/office/drawing/2014/main" val="1899482138"/>
                    </a:ext>
                  </a:extLst>
                </a:gridCol>
                <a:gridCol w="562747">
                  <a:extLst>
                    <a:ext uri="{9D8B030D-6E8A-4147-A177-3AD203B41FA5}">
                      <a16:colId xmlns:a16="http://schemas.microsoft.com/office/drawing/2014/main" val="1038990548"/>
                    </a:ext>
                  </a:extLst>
                </a:gridCol>
                <a:gridCol w="430245">
                  <a:extLst>
                    <a:ext uri="{9D8B030D-6E8A-4147-A177-3AD203B41FA5}">
                      <a16:colId xmlns:a16="http://schemas.microsoft.com/office/drawing/2014/main" val="249609976"/>
                    </a:ext>
                  </a:extLst>
                </a:gridCol>
              </a:tblGrid>
              <a:tr h="184150">
                <a:tc gridSpan="6">
                  <a:txBody>
                    <a:bodyPr/>
                    <a:lstStyle/>
                    <a:p>
                      <a:pPr algn="ctr">
                        <a:buNone/>
                      </a:pPr>
                      <a:r>
                        <a:rPr lang="en-US" b="1" kern="0">
                          <a:solidFill>
                            <a:srgbClr val="000000"/>
                          </a:solidFill>
                          <a:effectLst/>
                          <a:latin typeface="Aptos Narrow"/>
                          <a:ea typeface="Times New Roman" panose="02020603050405020304" pitchFamily="18" charset="0"/>
                          <a:cs typeface="Times New Roman"/>
                        </a:rPr>
                        <a:t>Validation Matrix</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00546219"/>
                  </a:ext>
                </a:extLst>
              </a:tr>
              <a:tr h="184150">
                <a:tc>
                  <a:txBody>
                    <a:bodyPr/>
                    <a:lstStyle/>
                    <a:p>
                      <a:pPr>
                        <a:buNone/>
                      </a:pP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5">
                  <a:txBody>
                    <a:bodyPr/>
                    <a:lstStyle/>
                    <a:p>
                      <a:pPr algn="ctr">
                        <a:buNone/>
                      </a:pPr>
                      <a:r>
                        <a:rPr lang="en-US" b="1" kern="0">
                          <a:solidFill>
                            <a:srgbClr val="000000"/>
                          </a:solidFill>
                          <a:effectLst/>
                          <a:latin typeface="Aptos Narrow"/>
                          <a:ea typeface="Times New Roman" panose="02020603050405020304" pitchFamily="18" charset="0"/>
                          <a:cs typeface="Times New Roman"/>
                        </a:rPr>
                        <a:t>Predicted</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04622299"/>
                  </a:ext>
                </a:extLst>
              </a:tr>
              <a:tr h="431800">
                <a:tc rowSpan="5">
                  <a:txBody>
                    <a:bodyPr/>
                    <a:lstStyle/>
                    <a:p>
                      <a:pPr algn="ctr">
                        <a:buNone/>
                      </a:pPr>
                      <a:r>
                        <a:rPr lang="en-US" b="1" kern="0">
                          <a:solidFill>
                            <a:srgbClr val="000000"/>
                          </a:solidFill>
                          <a:effectLst/>
                          <a:latin typeface="Aptos Narrow"/>
                          <a:ea typeface="Times New Roman" panose="02020603050405020304" pitchFamily="18" charset="0"/>
                          <a:cs typeface="Times New Roman"/>
                        </a:rPr>
                        <a:t>Actual</a:t>
                      </a:r>
                      <a:endParaRPr lang="en-US">
                        <a:effectLst/>
                        <a:latin typeface="Aptos Narrow"/>
                        <a:cs typeface="Times New Roman"/>
                      </a:endParaRPr>
                    </a:p>
                  </a:txBody>
                  <a:tcPr marL="68580" marR="68580" marT="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Class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2</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3</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4</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6109593"/>
                  </a:ext>
                </a:extLst>
              </a:tr>
              <a:tr h="184150">
                <a:tc vMerge="1">
                  <a:txBody>
                    <a:bodyPr/>
                    <a:lstStyle/>
                    <a:p>
                      <a:endParaRPr lang="en-US"/>
                    </a:p>
                  </a:txBody>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8</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7072"/>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889</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FAFE"/>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71</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7EA"/>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18</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8385"/>
                    </a:solidFill>
                  </a:tcPr>
                </a:tc>
                <a:extLst>
                  <a:ext uri="{0D108BD9-81ED-4DB2-BD59-A6C34878D82A}">
                    <a16:rowId xmlns:a16="http://schemas.microsoft.com/office/drawing/2014/main" val="1625829928"/>
                  </a:ext>
                </a:extLst>
              </a:tr>
              <a:tr h="184150">
                <a:tc vMerge="1">
                  <a:txBody>
                    <a:bodyPr/>
                    <a:lstStyle/>
                    <a:p>
                      <a:endParaRPr lang="en-US"/>
                    </a:p>
                  </a:txBody>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2</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29</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989A"/>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34811</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A8AC6"/>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2855</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3F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568</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FBFF"/>
                    </a:solidFill>
                  </a:tcPr>
                </a:tc>
                <a:extLst>
                  <a:ext uri="{0D108BD9-81ED-4DB2-BD59-A6C34878D82A}">
                    <a16:rowId xmlns:a16="http://schemas.microsoft.com/office/drawing/2014/main" val="2236630622"/>
                  </a:ext>
                </a:extLst>
              </a:tr>
              <a:tr h="184150">
                <a:tc vMerge="1">
                  <a:txBody>
                    <a:bodyPr/>
                    <a:lstStyle/>
                    <a:p>
                      <a:endParaRPr lang="en-US"/>
                    </a:p>
                  </a:txBody>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3</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4</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947</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AFE"/>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93</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FCFF"/>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24</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8E90"/>
                    </a:solidFill>
                  </a:tcPr>
                </a:tc>
                <a:extLst>
                  <a:ext uri="{0D108BD9-81ED-4DB2-BD59-A6C34878D82A}">
                    <a16:rowId xmlns:a16="http://schemas.microsoft.com/office/drawing/2014/main" val="2529175284"/>
                  </a:ext>
                </a:extLst>
              </a:tr>
              <a:tr h="190500">
                <a:tc vMerge="1">
                  <a:txBody>
                    <a:bodyPr/>
                    <a:lstStyle/>
                    <a:p>
                      <a:endParaRPr lang="en-US"/>
                    </a:p>
                  </a:txBody>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4</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4</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1107</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9FE"/>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101</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FCFF"/>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32</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99DA0"/>
                    </a:solidFill>
                  </a:tcPr>
                </a:tc>
                <a:extLst>
                  <a:ext uri="{0D108BD9-81ED-4DB2-BD59-A6C34878D82A}">
                    <a16:rowId xmlns:a16="http://schemas.microsoft.com/office/drawing/2014/main" val="1599545367"/>
                  </a:ext>
                </a:extLst>
              </a:tr>
            </a:tbl>
          </a:graphicData>
        </a:graphic>
      </p:graphicFrame>
      <p:graphicFrame>
        <p:nvGraphicFramePr>
          <p:cNvPr id="9" name="Table 8">
            <a:extLst>
              <a:ext uri="{FF2B5EF4-FFF2-40B4-BE49-F238E27FC236}">
                <a16:creationId xmlns:a16="http://schemas.microsoft.com/office/drawing/2014/main" id="{1C46559E-CD03-5313-C8B4-A042BD655161}"/>
              </a:ext>
            </a:extLst>
          </p:cNvPr>
          <p:cNvGraphicFramePr>
            <a:graphicFrameLocks noGrp="1"/>
          </p:cNvGraphicFramePr>
          <p:nvPr>
            <p:extLst>
              <p:ext uri="{D42A27DB-BD31-4B8C-83A1-F6EECF244321}">
                <p14:modId xmlns:p14="http://schemas.microsoft.com/office/powerpoint/2010/main" val="1175123210"/>
              </p:ext>
            </p:extLst>
          </p:nvPr>
        </p:nvGraphicFramePr>
        <p:xfrm>
          <a:off x="8127674" y="4009292"/>
          <a:ext cx="3658231" cy="2352040"/>
        </p:xfrm>
        <a:graphic>
          <a:graphicData uri="http://schemas.openxmlformats.org/drawingml/2006/table">
            <a:tbl>
              <a:tblPr firstRow="1" firstCol="1" bandRow="1">
                <a:tableStyleId>{5C22544A-7EE6-4342-B048-85BDC9FD1C3A}</a:tableStyleId>
              </a:tblPr>
              <a:tblGrid>
                <a:gridCol w="662944">
                  <a:extLst>
                    <a:ext uri="{9D8B030D-6E8A-4147-A177-3AD203B41FA5}">
                      <a16:colId xmlns:a16="http://schemas.microsoft.com/office/drawing/2014/main" val="2741531491"/>
                    </a:ext>
                  </a:extLst>
                </a:gridCol>
                <a:gridCol w="800100">
                  <a:extLst>
                    <a:ext uri="{9D8B030D-6E8A-4147-A177-3AD203B41FA5}">
                      <a16:colId xmlns:a16="http://schemas.microsoft.com/office/drawing/2014/main" val="3109089121"/>
                    </a:ext>
                  </a:extLst>
                </a:gridCol>
                <a:gridCol w="582303">
                  <a:extLst>
                    <a:ext uri="{9D8B030D-6E8A-4147-A177-3AD203B41FA5}">
                      <a16:colId xmlns:a16="http://schemas.microsoft.com/office/drawing/2014/main" val="4211231300"/>
                    </a:ext>
                  </a:extLst>
                </a:gridCol>
                <a:gridCol w="719458">
                  <a:extLst>
                    <a:ext uri="{9D8B030D-6E8A-4147-A177-3AD203B41FA5}">
                      <a16:colId xmlns:a16="http://schemas.microsoft.com/office/drawing/2014/main" val="3661353433"/>
                    </a:ext>
                  </a:extLst>
                </a:gridCol>
                <a:gridCol w="446713">
                  <a:extLst>
                    <a:ext uri="{9D8B030D-6E8A-4147-A177-3AD203B41FA5}">
                      <a16:colId xmlns:a16="http://schemas.microsoft.com/office/drawing/2014/main" val="242455334"/>
                    </a:ext>
                  </a:extLst>
                </a:gridCol>
                <a:gridCol w="446713">
                  <a:extLst>
                    <a:ext uri="{9D8B030D-6E8A-4147-A177-3AD203B41FA5}">
                      <a16:colId xmlns:a16="http://schemas.microsoft.com/office/drawing/2014/main" val="3612760604"/>
                    </a:ext>
                  </a:extLst>
                </a:gridCol>
              </a:tblGrid>
              <a:tr h="184150">
                <a:tc gridSpan="6">
                  <a:txBody>
                    <a:bodyPr/>
                    <a:lstStyle/>
                    <a:p>
                      <a:pPr algn="ctr">
                        <a:buNone/>
                      </a:pPr>
                      <a:r>
                        <a:rPr lang="en-US" b="1" kern="0">
                          <a:solidFill>
                            <a:srgbClr val="000000"/>
                          </a:solidFill>
                          <a:effectLst/>
                          <a:latin typeface="Aptos Narrow"/>
                          <a:ea typeface="Times New Roman" panose="02020603050405020304" pitchFamily="18" charset="0"/>
                          <a:cs typeface="Times New Roman"/>
                        </a:rPr>
                        <a:t>Test Matrix</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0128674"/>
                  </a:ext>
                </a:extLst>
              </a:tr>
              <a:tr h="184150">
                <a:tc>
                  <a:txBody>
                    <a:bodyPr/>
                    <a:lstStyle/>
                    <a:p>
                      <a:pPr>
                        <a:buNone/>
                      </a:pP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5">
                  <a:txBody>
                    <a:bodyPr/>
                    <a:lstStyle/>
                    <a:p>
                      <a:pPr algn="ctr">
                        <a:buNone/>
                      </a:pPr>
                      <a:r>
                        <a:rPr lang="en-US" b="1" kern="0">
                          <a:solidFill>
                            <a:srgbClr val="000000"/>
                          </a:solidFill>
                          <a:effectLst/>
                          <a:latin typeface="Aptos Narrow"/>
                          <a:ea typeface="Times New Roman" panose="02020603050405020304" pitchFamily="18" charset="0"/>
                          <a:cs typeface="Times New Roman"/>
                        </a:rPr>
                        <a:t>Predicted</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27739400"/>
                  </a:ext>
                </a:extLst>
              </a:tr>
              <a:tr h="431800">
                <a:tc rowSpan="5">
                  <a:txBody>
                    <a:bodyPr/>
                    <a:lstStyle/>
                    <a:p>
                      <a:pPr algn="ctr">
                        <a:buNone/>
                      </a:pPr>
                      <a:r>
                        <a:rPr lang="en-US" b="1" kern="0">
                          <a:solidFill>
                            <a:srgbClr val="000000"/>
                          </a:solidFill>
                          <a:effectLst/>
                          <a:latin typeface="Aptos Narrow"/>
                          <a:ea typeface="Times New Roman" panose="02020603050405020304" pitchFamily="18" charset="0"/>
                          <a:cs typeface="Times New Roman"/>
                        </a:rPr>
                        <a:t>Actual</a:t>
                      </a:r>
                      <a:endParaRPr lang="en-US">
                        <a:effectLst/>
                        <a:latin typeface="Aptos Narrow"/>
                        <a:cs typeface="Times New Roman"/>
                      </a:endParaRPr>
                    </a:p>
                  </a:txBody>
                  <a:tcPr marL="68580" marR="68580" marT="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US" b="1" kern="0">
                          <a:solidFill>
                            <a:srgbClr val="000000"/>
                          </a:solidFill>
                          <a:effectLst/>
                          <a:latin typeface="Aptos Narrow" panose="020B0004020202020204" pitchFamily="34" charset="0"/>
                          <a:ea typeface="Times New Roman" panose="02020603050405020304" pitchFamily="18" charset="0"/>
                          <a:cs typeface="Times New Roman" panose="02020603050405020304" pitchFamily="18" charset="0"/>
                        </a:rPr>
                        <a:t>Class</a:t>
                      </a:r>
                      <a:endParaRPr lang="en-US">
                        <a:effectLst/>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2</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3</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4</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3043659"/>
                  </a:ext>
                </a:extLst>
              </a:tr>
              <a:tr h="184150">
                <a:tc vMerge="1">
                  <a:txBody>
                    <a:bodyPr/>
                    <a:lstStyle/>
                    <a:p>
                      <a:endParaRPr lang="en-US"/>
                    </a:p>
                  </a:txBody>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3817200737"/>
                  </a:ext>
                </a:extLst>
              </a:tr>
              <a:tr h="184150">
                <a:tc vMerge="1">
                  <a:txBody>
                    <a:bodyPr/>
                    <a:lstStyle/>
                    <a:p>
                      <a:endParaRPr lang="en-US"/>
                    </a:p>
                  </a:txBody>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2</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6</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FCFF"/>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11003</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A8AC6"/>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840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0F4F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130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FBFF"/>
                    </a:solidFill>
                  </a:tcPr>
                </a:tc>
                <a:extLst>
                  <a:ext uri="{0D108BD9-81ED-4DB2-BD59-A6C34878D82A}">
                    <a16:rowId xmlns:a16="http://schemas.microsoft.com/office/drawing/2014/main" val="2057577642"/>
                  </a:ext>
                </a:extLst>
              </a:tr>
              <a:tr h="184150">
                <a:tc vMerge="1">
                  <a:txBody>
                    <a:bodyPr/>
                    <a:lstStyle/>
                    <a:p>
                      <a:endParaRPr lang="en-US"/>
                    </a:p>
                  </a:txBody>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3</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0</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4036050663"/>
                  </a:ext>
                </a:extLst>
              </a:tr>
              <a:tr h="190500">
                <a:tc vMerge="1">
                  <a:txBody>
                    <a:bodyPr/>
                    <a:lstStyle/>
                    <a:p>
                      <a:endParaRPr lang="en-US"/>
                    </a:p>
                  </a:txBody>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4</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FCFF"/>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327</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9FE"/>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24</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FCFF"/>
                    </a:solidFill>
                  </a:tcPr>
                </a:tc>
                <a:tc>
                  <a:txBody>
                    <a:bodyPr/>
                    <a:lstStyle/>
                    <a:p>
                      <a:pPr algn="r">
                        <a:buNone/>
                      </a:pPr>
                      <a:r>
                        <a:rPr lang="en-US" kern="0">
                          <a:solidFill>
                            <a:srgbClr val="000000"/>
                          </a:solidFill>
                          <a:effectLst/>
                          <a:latin typeface="Aptos Narrow"/>
                          <a:ea typeface="Times New Roman" panose="02020603050405020304" pitchFamily="18" charset="0"/>
                          <a:cs typeface="Times New Roman"/>
                        </a:rPr>
                        <a:t>1</a:t>
                      </a:r>
                      <a:endParaRPr lang="en-US">
                        <a:effectLst/>
                        <a:latin typeface="Aptos Narrow"/>
                        <a:cs typeface="Times New Roman"/>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CFCFF"/>
                    </a:solidFill>
                  </a:tcPr>
                </a:tc>
                <a:extLst>
                  <a:ext uri="{0D108BD9-81ED-4DB2-BD59-A6C34878D82A}">
                    <a16:rowId xmlns:a16="http://schemas.microsoft.com/office/drawing/2014/main" val="2788873952"/>
                  </a:ext>
                </a:extLst>
              </a:tr>
            </a:tbl>
          </a:graphicData>
        </a:graphic>
      </p:graphicFrame>
    </p:spTree>
    <p:extLst>
      <p:ext uri="{BB962C8B-B14F-4D97-AF65-F5344CB8AC3E}">
        <p14:creationId xmlns:p14="http://schemas.microsoft.com/office/powerpoint/2010/main" val="3469187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8D9A9-482C-6601-56ED-53B7EAFF8C5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24EA4C77-EB06-0085-2C7B-75FE0121AE19}"/>
              </a:ext>
            </a:extLst>
          </p:cNvPr>
          <p:cNvSpPr>
            <a:spLocks noGrp="1"/>
          </p:cNvSpPr>
          <p:nvPr>
            <p:ph type="ftr" sz="quarter" idx="11"/>
          </p:nvPr>
        </p:nvSpPr>
        <p:spPr/>
        <p:txBody>
          <a:bodyPr/>
          <a:lstStyle/>
          <a:p>
            <a:r>
              <a:rPr lang="it-IT"/>
              <a:t>DA 204o: Data Science in Practice</a:t>
            </a:r>
            <a:endParaRPr lang="en-SG"/>
          </a:p>
        </p:txBody>
      </p:sp>
      <p:sp>
        <p:nvSpPr>
          <p:cNvPr id="7" name="Slide Number Placeholder 6">
            <a:extLst>
              <a:ext uri="{FF2B5EF4-FFF2-40B4-BE49-F238E27FC236}">
                <a16:creationId xmlns:a16="http://schemas.microsoft.com/office/drawing/2014/main" id="{8975F6E6-550D-4FB4-BC7D-CB36E9F2016F}"/>
              </a:ext>
            </a:extLst>
          </p:cNvPr>
          <p:cNvSpPr>
            <a:spLocks noGrp="1"/>
          </p:cNvSpPr>
          <p:nvPr>
            <p:ph type="sldNum" sz="quarter" idx="12"/>
          </p:nvPr>
        </p:nvSpPr>
        <p:spPr/>
        <p:txBody>
          <a:bodyPr/>
          <a:lstStyle/>
          <a:p>
            <a:fld id="{BF1758FF-0BF1-4103-A89A-38EC40E85429}" type="slidenum">
              <a:rPr lang="en-SG" smtClean="0"/>
              <a:t>13</a:t>
            </a:fld>
            <a:endParaRPr lang="en-SG"/>
          </a:p>
        </p:txBody>
      </p:sp>
      <p:sp>
        <p:nvSpPr>
          <p:cNvPr id="2" name="Title 2">
            <a:extLst>
              <a:ext uri="{FF2B5EF4-FFF2-40B4-BE49-F238E27FC236}">
                <a16:creationId xmlns:a16="http://schemas.microsoft.com/office/drawing/2014/main" id="{2A8F6E5F-5E86-C3A7-F197-F4FC3D1504FB}"/>
              </a:ext>
            </a:extLst>
          </p:cNvPr>
          <p:cNvSpPr txBox="1">
            <a:spLocks/>
          </p:cNvSpPr>
          <p:nvPr/>
        </p:nvSpPr>
        <p:spPr>
          <a:xfrm>
            <a:off x="784636" y="160445"/>
            <a:ext cx="10800782" cy="507704"/>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000" b="0" kern="1200" spc="-50" baseline="0">
                <a:solidFill>
                  <a:schemeClr val="accent2"/>
                </a:solidFill>
                <a:latin typeface="Graphik Semibold" panose="020B0703030202060203" pitchFamily="34" charset="0"/>
                <a:ea typeface="+mj-ea"/>
                <a:cs typeface="+mj-cs"/>
              </a:defRPr>
            </a:lvl1pPr>
          </a:lstStyle>
          <a:p>
            <a:r>
              <a:rPr lang="en-IN" sz="2800" b="1">
                <a:solidFill>
                  <a:schemeClr val="bg1"/>
                </a:solidFill>
                <a:latin typeface="Graphik Semibold"/>
              </a:rPr>
              <a:t>Demo: Model Deployment and Visualization of Results</a:t>
            </a:r>
            <a:endParaRPr lang="en-IN" sz="2800" b="1">
              <a:solidFill>
                <a:schemeClr val="bg1"/>
              </a:solidFill>
            </a:endParaRPr>
          </a:p>
        </p:txBody>
      </p:sp>
      <p:sp>
        <p:nvSpPr>
          <p:cNvPr id="3" name="TextBox 2">
            <a:extLst>
              <a:ext uri="{FF2B5EF4-FFF2-40B4-BE49-F238E27FC236}">
                <a16:creationId xmlns:a16="http://schemas.microsoft.com/office/drawing/2014/main" id="{5C86A8C5-13AC-0C61-E2E6-009E9BCF438E}"/>
              </a:ext>
            </a:extLst>
          </p:cNvPr>
          <p:cNvSpPr txBox="1"/>
          <p:nvPr/>
        </p:nvSpPr>
        <p:spPr>
          <a:xfrm>
            <a:off x="784704" y="859860"/>
            <a:ext cx="4835046" cy="5745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569"/>
              </a:lnSpc>
            </a:pPr>
            <a:r>
              <a:rPr lang="en-US" sz="1500">
                <a:latin typeface="Aptos"/>
                <a:cs typeface="Segoe UI"/>
              </a:rPr>
              <a:t>Deployed the model in </a:t>
            </a:r>
            <a:r>
              <a:rPr lang="en-US" sz="1500" err="1">
                <a:latin typeface="Aptos"/>
                <a:cs typeface="Segoe UI"/>
              </a:rPr>
              <a:t>streamlit</a:t>
            </a:r>
            <a:r>
              <a:rPr lang="en-US" sz="1500">
                <a:latin typeface="Aptos"/>
                <a:cs typeface="Segoe UI"/>
              </a:rPr>
              <a:t> application</a:t>
            </a:r>
            <a:endParaRPr lang="en-US" sz="1500">
              <a:ea typeface="Calibri"/>
              <a:cs typeface="Calibri"/>
            </a:endParaRPr>
          </a:p>
          <a:p>
            <a:pPr algn="ctr"/>
            <a:endParaRPr lang="en-US"/>
          </a:p>
        </p:txBody>
      </p:sp>
      <p:pic>
        <p:nvPicPr>
          <p:cNvPr id="4" name="Picture 3" descr="A screenshot of a web page&#10;&#10;AI-generated content may be incorrect.">
            <a:extLst>
              <a:ext uri="{FF2B5EF4-FFF2-40B4-BE49-F238E27FC236}">
                <a16:creationId xmlns:a16="http://schemas.microsoft.com/office/drawing/2014/main" id="{20D952D0-0DFC-20C6-B103-0DB7DBC3217D}"/>
              </a:ext>
            </a:extLst>
          </p:cNvPr>
          <p:cNvPicPr>
            <a:picLocks noChangeAspect="1"/>
          </p:cNvPicPr>
          <p:nvPr/>
        </p:nvPicPr>
        <p:blipFill>
          <a:blip r:embed="rId2"/>
          <a:stretch>
            <a:fillRect/>
          </a:stretch>
        </p:blipFill>
        <p:spPr>
          <a:xfrm>
            <a:off x="783956" y="1145826"/>
            <a:ext cx="5086350" cy="4361962"/>
          </a:xfrm>
          <a:prstGeom prst="rect">
            <a:avLst/>
          </a:prstGeom>
        </p:spPr>
      </p:pic>
      <p:sp>
        <p:nvSpPr>
          <p:cNvPr id="5" name="TextBox 4">
            <a:extLst>
              <a:ext uri="{FF2B5EF4-FFF2-40B4-BE49-F238E27FC236}">
                <a16:creationId xmlns:a16="http://schemas.microsoft.com/office/drawing/2014/main" id="{98B6F6A6-6399-0388-EB14-0605416AD628}"/>
              </a:ext>
            </a:extLst>
          </p:cNvPr>
          <p:cNvSpPr txBox="1"/>
          <p:nvPr/>
        </p:nvSpPr>
        <p:spPr>
          <a:xfrm>
            <a:off x="1146654" y="5505351"/>
            <a:ext cx="9597546" cy="7797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569"/>
              </a:lnSpc>
            </a:pPr>
            <a:endParaRPr lang="en-US" b="1">
              <a:latin typeface="Aptos"/>
              <a:cs typeface="Segoe UI"/>
            </a:endParaRPr>
          </a:p>
          <a:p>
            <a:pPr>
              <a:lnSpc>
                <a:spcPts val="1569"/>
              </a:lnSpc>
            </a:pPr>
            <a:r>
              <a:rPr lang="en-US" b="1" dirty="0">
                <a:latin typeface="Aptos"/>
                <a:cs typeface="Segoe UI"/>
              </a:rPr>
              <a:t>Link to app: </a:t>
            </a:r>
            <a:r>
              <a:rPr lang="en-US" dirty="0">
                <a:ea typeface="+mn-lt"/>
                <a:cs typeface="+mn-lt"/>
                <a:hlinkClick r:id="rId3"/>
              </a:rPr>
              <a:t>https://ds-us-accidents-analysis-7xhebyb48xunkr4cn8zqhe.streamlit.app/</a:t>
            </a:r>
            <a:endParaRPr lang="en-US" b="1" dirty="0">
              <a:ea typeface="+mn-lt"/>
              <a:cs typeface="+mn-lt"/>
              <a:hlinkClick r:id="rId3"/>
            </a:endParaRPr>
          </a:p>
          <a:p>
            <a:pPr algn="ctr"/>
            <a:endParaRPr lang="en-US">
              <a:ea typeface="Calibri"/>
              <a:cs typeface="Calibri"/>
            </a:endParaRPr>
          </a:p>
        </p:txBody>
      </p:sp>
      <p:pic>
        <p:nvPicPr>
          <p:cNvPr id="10" name="Picture 9" descr="A screenshot of a computer screen&#10;&#10;AI-generated content may be incorrect.">
            <a:extLst>
              <a:ext uri="{FF2B5EF4-FFF2-40B4-BE49-F238E27FC236}">
                <a16:creationId xmlns:a16="http://schemas.microsoft.com/office/drawing/2014/main" id="{5E10CA90-A472-AB37-5FCA-DB6A3360608C}"/>
              </a:ext>
            </a:extLst>
          </p:cNvPr>
          <p:cNvPicPr>
            <a:picLocks noChangeAspect="1"/>
          </p:cNvPicPr>
          <p:nvPr/>
        </p:nvPicPr>
        <p:blipFill>
          <a:blip r:embed="rId4"/>
          <a:stretch>
            <a:fillRect/>
          </a:stretch>
        </p:blipFill>
        <p:spPr>
          <a:xfrm>
            <a:off x="5657850" y="1957388"/>
            <a:ext cx="6419850" cy="3810000"/>
          </a:xfrm>
          <a:prstGeom prst="rect">
            <a:avLst/>
          </a:prstGeom>
        </p:spPr>
      </p:pic>
      <p:sp>
        <p:nvSpPr>
          <p:cNvPr id="11" name="TextBox 10">
            <a:extLst>
              <a:ext uri="{FF2B5EF4-FFF2-40B4-BE49-F238E27FC236}">
                <a16:creationId xmlns:a16="http://schemas.microsoft.com/office/drawing/2014/main" id="{3A95071C-38CF-CBB8-69D5-53795D771385}"/>
              </a:ext>
            </a:extLst>
          </p:cNvPr>
          <p:cNvSpPr txBox="1"/>
          <p:nvPr/>
        </p:nvSpPr>
        <p:spPr>
          <a:xfrm>
            <a:off x="8052278" y="1250385"/>
            <a:ext cx="1634646" cy="5745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569"/>
              </a:lnSpc>
            </a:pPr>
            <a:r>
              <a:rPr lang="en-US" sz="1500">
                <a:latin typeface="Aptos"/>
                <a:cs typeface="Segoe UI"/>
              </a:rPr>
              <a:t>Sample Output</a:t>
            </a:r>
            <a:endParaRPr lang="en-US"/>
          </a:p>
          <a:p>
            <a:pPr algn="ctr"/>
            <a:endParaRPr lang="en-US"/>
          </a:p>
        </p:txBody>
      </p:sp>
    </p:spTree>
    <p:extLst>
      <p:ext uri="{BB962C8B-B14F-4D97-AF65-F5344CB8AC3E}">
        <p14:creationId xmlns:p14="http://schemas.microsoft.com/office/powerpoint/2010/main" val="2961103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317304-A02C-C93B-6271-8D87E232CE4D}"/>
              </a:ext>
            </a:extLst>
          </p:cNvPr>
          <p:cNvSpPr>
            <a:spLocks noGrp="1"/>
          </p:cNvSpPr>
          <p:nvPr>
            <p:ph idx="1"/>
          </p:nvPr>
        </p:nvSpPr>
        <p:spPr>
          <a:xfrm>
            <a:off x="606582" y="1199606"/>
            <a:ext cx="11271565" cy="5257800"/>
          </a:xfrm>
        </p:spPr>
        <p:txBody>
          <a:bodyPr vert="horz" lIns="0" tIns="45720" rIns="0" bIns="45720" rtlCol="0" anchor="t">
            <a:normAutofit lnSpcReduction="10000"/>
          </a:bodyPr>
          <a:lstStyle/>
          <a:p>
            <a:pPr marL="0" indent="0">
              <a:buNone/>
            </a:pPr>
            <a:r>
              <a:rPr lang="en-US">
                <a:latin typeface="Graphik Regular"/>
              </a:rPr>
              <a:t>Based on EDA:</a:t>
            </a:r>
          </a:p>
          <a:p>
            <a:pPr marL="215900" indent="-215900">
              <a:buAutoNum type="arabicPeriod"/>
            </a:pPr>
            <a:r>
              <a:rPr lang="en-US">
                <a:latin typeface="Graphik Regular"/>
              </a:rPr>
              <a:t>Deploy more strict vigilance over the traffic during peak office commute hours. Morning 7am - 9am and evening 4pm - 6pm.</a:t>
            </a:r>
            <a:endParaRPr lang="en-US"/>
          </a:p>
          <a:p>
            <a:pPr marL="215900" indent="-215900">
              <a:buAutoNum type="arabicPeriod"/>
            </a:pPr>
            <a:r>
              <a:rPr lang="en-US">
                <a:latin typeface="Graphik Regular"/>
              </a:rPr>
              <a:t>Offices can give flexibility for log in and log off to avoid the rush leading to accidents.</a:t>
            </a:r>
          </a:p>
          <a:p>
            <a:pPr marL="215900" indent="-215900">
              <a:buAutoNum type="arabicPeriod"/>
            </a:pPr>
            <a:r>
              <a:rPr lang="en-US">
                <a:latin typeface="Graphik Regular"/>
              </a:rPr>
              <a:t>Clinics / ambulances can be deployed in vicinity of the red zones as per the heat map to optimized use of the healthcare services and ensuring quick treatments.</a:t>
            </a:r>
            <a:endParaRPr lang="en-US"/>
          </a:p>
          <a:p>
            <a:pPr marL="0" indent="0">
              <a:buNone/>
            </a:pPr>
            <a:r>
              <a:rPr lang="en-US">
                <a:latin typeface="Graphik Regular"/>
              </a:rPr>
              <a:t>Based on Output (some top ones):</a:t>
            </a:r>
            <a:endParaRPr lang="en-US"/>
          </a:p>
          <a:p>
            <a:pPr marL="457200" indent="-457200">
              <a:buAutoNum type="arabicPeriod"/>
            </a:pPr>
            <a:r>
              <a:rPr lang="en-US">
                <a:latin typeface="Graphik Regular"/>
              </a:rPr>
              <a:t>People should driver carefully during winter in month Nov, December, January. </a:t>
            </a:r>
            <a:endParaRPr lang="en-US"/>
          </a:p>
          <a:p>
            <a:pPr marL="457200" indent="-457200">
              <a:buAutoNum type="arabicPeriod"/>
            </a:pPr>
            <a:r>
              <a:rPr lang="en-US">
                <a:latin typeface="Graphik Regular"/>
              </a:rPr>
              <a:t>If the weather condition is cloudy or partially cloudy cars should be monitored carefully.</a:t>
            </a:r>
            <a:endParaRPr lang="en-US"/>
          </a:p>
          <a:p>
            <a:pPr marL="457200" indent="-457200">
              <a:buAutoNum type="arabicPeriod"/>
            </a:pPr>
            <a:r>
              <a:rPr lang="en-US">
                <a:latin typeface="Graphik Regular"/>
              </a:rPr>
              <a:t>The Road Junctions should be monitored carefully. </a:t>
            </a:r>
            <a:endParaRPr lang="en-US"/>
          </a:p>
          <a:p>
            <a:pPr marL="457200" indent="-457200">
              <a:buAutoNum type="arabicPeriod"/>
            </a:pPr>
            <a:r>
              <a:rPr lang="en-US">
                <a:latin typeface="Graphik Regular"/>
              </a:rPr>
              <a:t>During sunrise or sunset time cars should be tracked carefully and should be give guidance.</a:t>
            </a:r>
            <a:endParaRPr lang="en-US"/>
          </a:p>
          <a:p>
            <a:pPr marL="457200" indent="-457200">
              <a:buAutoNum type="arabicPeriod"/>
            </a:pPr>
            <a:r>
              <a:rPr lang="en-US">
                <a:latin typeface="Graphik Regular"/>
              </a:rPr>
              <a:t>In case there's no traffic signal severity is high to get an accident. So, try to install signals in most of the sensitive sections of roads.  </a:t>
            </a:r>
            <a:endParaRPr lang="en-US"/>
          </a:p>
          <a:p>
            <a:pPr marL="457200" indent="-457200">
              <a:buAutoNum type="arabicPeriod"/>
            </a:pPr>
            <a:endParaRPr lang="en-US"/>
          </a:p>
          <a:p>
            <a:pPr marL="457200" indent="-457200">
              <a:buAutoNum type="arabicPeriod"/>
            </a:pPr>
            <a:endParaRPr lang="en-US"/>
          </a:p>
          <a:p>
            <a:pPr marL="215900" indent="-215900">
              <a:buAutoNum type="arabicPeriod"/>
            </a:pPr>
            <a:endParaRPr lang="en-US"/>
          </a:p>
          <a:p>
            <a:pPr marL="215900" indent="-215900">
              <a:buAutoNum type="arabicPeriod"/>
            </a:pPr>
            <a:endParaRPr lang="en-US"/>
          </a:p>
        </p:txBody>
      </p:sp>
      <p:sp>
        <p:nvSpPr>
          <p:cNvPr id="3" name="Footer Placeholder 2">
            <a:extLst>
              <a:ext uri="{FF2B5EF4-FFF2-40B4-BE49-F238E27FC236}">
                <a16:creationId xmlns:a16="http://schemas.microsoft.com/office/drawing/2014/main" id="{A1E13CB5-3C89-D067-D963-2B56D6C27C81}"/>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21A4BEB9-7B82-80E0-C67C-CC41A28AB7D7}"/>
              </a:ext>
            </a:extLst>
          </p:cNvPr>
          <p:cNvSpPr>
            <a:spLocks noGrp="1"/>
          </p:cNvSpPr>
          <p:nvPr>
            <p:ph type="sldNum" sz="quarter" idx="12"/>
          </p:nvPr>
        </p:nvSpPr>
        <p:spPr/>
        <p:txBody>
          <a:bodyPr/>
          <a:lstStyle/>
          <a:p>
            <a:fld id="{BF1758FF-0BF1-4103-A89A-38EC40E85429}" type="slidenum">
              <a:rPr lang="en-SG" smtClean="0"/>
              <a:t>14</a:t>
            </a:fld>
            <a:endParaRPr lang="en-SG"/>
          </a:p>
        </p:txBody>
      </p:sp>
      <p:sp>
        <p:nvSpPr>
          <p:cNvPr id="5" name="Title 4">
            <a:extLst>
              <a:ext uri="{FF2B5EF4-FFF2-40B4-BE49-F238E27FC236}">
                <a16:creationId xmlns:a16="http://schemas.microsoft.com/office/drawing/2014/main" id="{9ECD7C92-11FE-39ED-0A83-E6E58BC4AA8F}"/>
              </a:ext>
            </a:extLst>
          </p:cNvPr>
          <p:cNvSpPr>
            <a:spLocks noGrp="1"/>
          </p:cNvSpPr>
          <p:nvPr>
            <p:ph type="title" idx="4294967295"/>
          </p:nvPr>
        </p:nvSpPr>
        <p:spPr>
          <a:xfrm>
            <a:off x="600075" y="-3614"/>
            <a:ext cx="11153776" cy="721895"/>
          </a:xfrm>
        </p:spPr>
        <p:txBody>
          <a:bodyPr/>
          <a:lstStyle/>
          <a:p>
            <a:r>
              <a:rPr lang="en-US" sz="2800" b="1">
                <a:solidFill>
                  <a:schemeClr val="bg1"/>
                </a:solidFill>
                <a:latin typeface="Graphik Semibold"/>
              </a:rPr>
              <a:t>Business</a:t>
            </a:r>
            <a:r>
              <a:rPr lang="en-US">
                <a:solidFill>
                  <a:schemeClr val="bg1"/>
                </a:solidFill>
                <a:latin typeface="Graphik Semibold"/>
              </a:rPr>
              <a:t> </a:t>
            </a:r>
            <a:r>
              <a:rPr lang="en-US" sz="2800" b="1">
                <a:solidFill>
                  <a:schemeClr val="bg1"/>
                </a:solidFill>
                <a:latin typeface="Graphik Semibold"/>
              </a:rPr>
              <a:t>recommendations</a:t>
            </a:r>
            <a:endParaRPr lang="en-US" sz="2800" b="1" err="1">
              <a:solidFill>
                <a:schemeClr val="bg1"/>
              </a:solidFill>
              <a:latin typeface="Graphik Semibold"/>
            </a:endParaRPr>
          </a:p>
        </p:txBody>
      </p:sp>
    </p:spTree>
    <p:extLst>
      <p:ext uri="{BB962C8B-B14F-4D97-AF65-F5344CB8AC3E}">
        <p14:creationId xmlns:p14="http://schemas.microsoft.com/office/powerpoint/2010/main" val="565417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2860BE-F2FA-2954-334A-0DC5295ABF75}"/>
              </a:ext>
            </a:extLst>
          </p:cNvPr>
          <p:cNvSpPr>
            <a:spLocks noGrp="1"/>
          </p:cNvSpPr>
          <p:nvPr>
            <p:ph idx="1"/>
          </p:nvPr>
        </p:nvSpPr>
        <p:spPr>
          <a:xfrm>
            <a:off x="549432" y="1036320"/>
            <a:ext cx="11328715" cy="3145693"/>
          </a:xfrm>
        </p:spPr>
        <p:txBody>
          <a:bodyPr vert="horz" lIns="0" tIns="45720" rIns="0" bIns="45720" rtlCol="0" anchor="t">
            <a:normAutofit fontScale="85000" lnSpcReduction="10000"/>
          </a:bodyPr>
          <a:lstStyle/>
          <a:p>
            <a:pPr marL="215900" indent="-215900"/>
            <a:r>
              <a:rPr lang="en-US" sz="1800" dirty="0">
                <a:solidFill>
                  <a:srgbClr val="404040"/>
                </a:solidFill>
                <a:latin typeface="Calibri"/>
                <a:ea typeface="Calibri"/>
                <a:cs typeface="Calibri"/>
              </a:rPr>
              <a:t>The data size is very huge (~3GB with 7.7M rows and 46 columns) and we faced frequent system crashing because of the RAM available in Google Colab. We used the chunking method as shown below to split the data in the size of 200000. Also shifted our model to VS Studio. </a:t>
            </a:r>
            <a:r>
              <a:rPr lang="en-US" sz="1800" dirty="0">
                <a:solidFill>
                  <a:srgbClr val="000000"/>
                </a:solidFill>
                <a:latin typeface="Calibri"/>
                <a:ea typeface="Calibri"/>
                <a:cs typeface="Calibri"/>
              </a:rPr>
              <a:t>Overall runtime was high because of big data size. We discarded some historical data points to reduce the data size and then to reduce the total runtime.</a:t>
            </a:r>
          </a:p>
          <a:p>
            <a:pPr marL="215900" indent="-215900"/>
            <a:r>
              <a:rPr lang="en-US" sz="1800" dirty="0">
                <a:solidFill>
                  <a:srgbClr val="000000"/>
                </a:solidFill>
                <a:latin typeface="Calibri"/>
                <a:ea typeface="Calibri"/>
                <a:cs typeface="Calibri"/>
              </a:rPr>
              <a:t>We observed a lot of class imbalance in the data with most accident severity scores of S2. We used the ‘smote’ approach along with Stratified sampling to handle this imbalance in the data. Refer: the below distribution of severity scores for data set after 01-JAN-2020.</a:t>
            </a:r>
          </a:p>
          <a:p>
            <a:pPr marL="215900" indent="-215900"/>
            <a:r>
              <a:rPr lang="en-US" sz="1800" dirty="0">
                <a:solidFill>
                  <a:srgbClr val="000000"/>
                </a:solidFill>
                <a:latin typeface="Calibri"/>
                <a:ea typeface="Calibri"/>
                <a:cs typeface="Calibri"/>
              </a:rPr>
              <a:t>Other issue we faced was regarding the mixed data types across all the 46 columns. These were either </a:t>
            </a:r>
            <a:r>
              <a:rPr lang="en-US" sz="1800" dirty="0" err="1">
                <a:solidFill>
                  <a:srgbClr val="000000"/>
                </a:solidFill>
                <a:latin typeface="Calibri"/>
                <a:ea typeface="Calibri"/>
                <a:cs typeface="Calibri"/>
              </a:rPr>
              <a:t>boolean</a:t>
            </a:r>
            <a:r>
              <a:rPr lang="en-US" sz="1800" dirty="0">
                <a:solidFill>
                  <a:srgbClr val="000000"/>
                </a:solidFill>
                <a:latin typeface="Calibri"/>
                <a:ea typeface="Calibri"/>
                <a:cs typeface="Calibri"/>
              </a:rPr>
              <a:t> in nature, categorical in objects. They were handled as per the specific requirement in the model.</a:t>
            </a:r>
          </a:p>
          <a:p>
            <a:pPr marL="215900" indent="-215900"/>
            <a:r>
              <a:rPr lang="en-US" sz="1800" dirty="0">
                <a:solidFill>
                  <a:srgbClr val="000000"/>
                </a:solidFill>
                <a:latin typeface="Calibri"/>
                <a:ea typeface="Calibri"/>
                <a:cs typeface="Calibri"/>
              </a:rPr>
              <a:t>Selection of model is also a challenge because of less accuracy. We eventually moved to an ensemble model to best the best accuracy.  That increased the run time eventually. </a:t>
            </a:r>
          </a:p>
          <a:p>
            <a:pPr marL="215900" indent="-215900"/>
            <a:r>
              <a:rPr lang="en-US" sz="1800" dirty="0">
                <a:solidFill>
                  <a:srgbClr val="000000"/>
                </a:solidFill>
                <a:latin typeface="Calibri"/>
                <a:ea typeface="Calibri"/>
                <a:cs typeface="Calibri"/>
              </a:rPr>
              <a:t>Lack of Resource: Another challenge was we do not have access to cloud or some other </a:t>
            </a:r>
            <a:r>
              <a:rPr lang="en-US" sz="1800" dirty="0" err="1">
                <a:solidFill>
                  <a:srgbClr val="000000"/>
                </a:solidFill>
                <a:latin typeface="Calibri"/>
                <a:ea typeface="Calibri"/>
                <a:cs typeface="Calibri"/>
              </a:rPr>
              <a:t>platfrom</a:t>
            </a:r>
            <a:r>
              <a:rPr lang="en-US" sz="1800" dirty="0">
                <a:solidFill>
                  <a:srgbClr val="000000"/>
                </a:solidFill>
                <a:latin typeface="Calibri"/>
                <a:ea typeface="Calibri"/>
                <a:cs typeface="Calibri"/>
              </a:rPr>
              <a:t> to </a:t>
            </a:r>
            <a:r>
              <a:rPr lang="en-US" sz="1800" dirty="0" err="1">
                <a:solidFill>
                  <a:srgbClr val="000000"/>
                </a:solidFill>
                <a:latin typeface="Calibri"/>
                <a:ea typeface="Calibri"/>
                <a:cs typeface="Calibri"/>
              </a:rPr>
              <a:t>amange</a:t>
            </a:r>
            <a:r>
              <a:rPr lang="en-US" sz="1800" dirty="0">
                <a:solidFill>
                  <a:srgbClr val="000000"/>
                </a:solidFill>
                <a:latin typeface="Calibri"/>
                <a:ea typeface="Calibri"/>
                <a:cs typeface="Calibri"/>
              </a:rPr>
              <a:t> such a big size data. So, handling everything on local was a challenge. </a:t>
            </a:r>
          </a:p>
        </p:txBody>
      </p:sp>
      <p:sp>
        <p:nvSpPr>
          <p:cNvPr id="3" name="Footer Placeholder 2">
            <a:extLst>
              <a:ext uri="{FF2B5EF4-FFF2-40B4-BE49-F238E27FC236}">
                <a16:creationId xmlns:a16="http://schemas.microsoft.com/office/drawing/2014/main" id="{62EBAA7D-0801-D24D-7D79-50655039F50C}"/>
              </a:ext>
            </a:extLst>
          </p:cNvPr>
          <p:cNvSpPr>
            <a:spLocks noGrp="1"/>
          </p:cNvSpPr>
          <p:nvPr>
            <p:ph type="ftr" sz="quarter" idx="11"/>
          </p:nvPr>
        </p:nvSpPr>
        <p:spPr/>
        <p:txBody>
          <a:bodyPr/>
          <a:lstStyle/>
          <a:p>
            <a:r>
              <a:rPr lang="it-IT"/>
              <a:t>DA 204o: Data Science in Practice</a:t>
            </a:r>
            <a:endParaRPr lang="en-SG"/>
          </a:p>
        </p:txBody>
      </p:sp>
      <p:sp>
        <p:nvSpPr>
          <p:cNvPr id="4" name="Slide Number Placeholder 3">
            <a:extLst>
              <a:ext uri="{FF2B5EF4-FFF2-40B4-BE49-F238E27FC236}">
                <a16:creationId xmlns:a16="http://schemas.microsoft.com/office/drawing/2014/main" id="{C4E7EAEB-ECE8-6521-EBA3-55C16FBB7F02}"/>
              </a:ext>
            </a:extLst>
          </p:cNvPr>
          <p:cNvSpPr>
            <a:spLocks noGrp="1"/>
          </p:cNvSpPr>
          <p:nvPr>
            <p:ph type="sldNum" sz="quarter" idx="12"/>
          </p:nvPr>
        </p:nvSpPr>
        <p:spPr/>
        <p:txBody>
          <a:bodyPr/>
          <a:lstStyle/>
          <a:p>
            <a:fld id="{BF1758FF-0BF1-4103-A89A-38EC40E85429}" type="slidenum">
              <a:rPr lang="en-SG" smtClean="0"/>
              <a:t>15</a:t>
            </a:fld>
            <a:endParaRPr lang="en-SG"/>
          </a:p>
        </p:txBody>
      </p:sp>
      <p:sp>
        <p:nvSpPr>
          <p:cNvPr id="5" name="Title 4">
            <a:extLst>
              <a:ext uri="{FF2B5EF4-FFF2-40B4-BE49-F238E27FC236}">
                <a16:creationId xmlns:a16="http://schemas.microsoft.com/office/drawing/2014/main" id="{433223E5-06CC-B3C6-34F7-8E3CD50FE1B8}"/>
              </a:ext>
            </a:extLst>
          </p:cNvPr>
          <p:cNvSpPr>
            <a:spLocks noGrp="1"/>
          </p:cNvSpPr>
          <p:nvPr>
            <p:ph type="title" idx="4294967295"/>
          </p:nvPr>
        </p:nvSpPr>
        <p:spPr>
          <a:xfrm>
            <a:off x="542926" y="8631"/>
            <a:ext cx="11210925" cy="708289"/>
          </a:xfrm>
        </p:spPr>
        <p:txBody>
          <a:bodyPr>
            <a:normAutofit/>
          </a:bodyPr>
          <a:lstStyle/>
          <a:p>
            <a:r>
              <a:rPr lang="en-US" sz="2800" b="1" dirty="0">
                <a:solidFill>
                  <a:schemeClr val="bg1"/>
                </a:solidFill>
                <a:latin typeface="Graphik Semibold"/>
              </a:rPr>
              <a:t>Challenges &amp; Future Possibilities</a:t>
            </a:r>
          </a:p>
        </p:txBody>
      </p:sp>
      <p:sp>
        <p:nvSpPr>
          <p:cNvPr id="11" name="Content Placeholder 1">
            <a:extLst>
              <a:ext uri="{FF2B5EF4-FFF2-40B4-BE49-F238E27FC236}">
                <a16:creationId xmlns:a16="http://schemas.microsoft.com/office/drawing/2014/main" id="{B4DFCB26-4EB0-38D1-591B-E5FB569D15F7}"/>
              </a:ext>
            </a:extLst>
          </p:cNvPr>
          <p:cNvSpPr txBox="1">
            <a:spLocks/>
          </p:cNvSpPr>
          <p:nvPr/>
        </p:nvSpPr>
        <p:spPr>
          <a:xfrm>
            <a:off x="604140" y="4363720"/>
            <a:ext cx="11328715" cy="1172309"/>
          </a:xfrm>
          <a:prstGeom prst="rect">
            <a:avLst/>
          </a:prstGeom>
        </p:spPr>
        <p:txBody>
          <a:bodyPr vert="horz" lIns="0" tIns="45720" rIns="0" bIns="45720" rtlCol="0" anchor="t">
            <a:noAutofit/>
          </a:bodyPr>
          <a:lstStyle>
            <a:lvl1pPr marL="216000" indent="-216000" algn="l" defTabSz="914400" rtl="0" eaLnBrk="1" latinLnBrk="0" hangingPunct="1">
              <a:lnSpc>
                <a:spcPct val="90000"/>
              </a:lnSpc>
              <a:spcBef>
                <a:spcPts val="1200"/>
              </a:spcBef>
              <a:spcAft>
                <a:spcPts val="200"/>
              </a:spcAft>
              <a:buClr>
                <a:schemeClr val="accent2"/>
              </a:buClr>
              <a:buSzPct val="100000"/>
              <a:buFont typeface="Arial" panose="020B0604020202020204" pitchFamily="34" charset="0"/>
              <a:buChar char="•"/>
              <a:defRPr sz="2000" kern="1200">
                <a:solidFill>
                  <a:schemeClr val="tx1">
                    <a:lumMod val="75000"/>
                    <a:lumOff val="25000"/>
                  </a:schemeClr>
                </a:solidFill>
                <a:latin typeface="Graphik Regular" panose="020B0503030202060203" pitchFamily="34" charset="0"/>
                <a:ea typeface="+mn-ea"/>
                <a:cs typeface="+mn-cs"/>
              </a:defRPr>
            </a:lvl1pPr>
            <a:lvl2pPr marL="48691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800" kern="1200">
                <a:solidFill>
                  <a:schemeClr val="tx1">
                    <a:lumMod val="75000"/>
                    <a:lumOff val="25000"/>
                  </a:schemeClr>
                </a:solidFill>
                <a:latin typeface="Graphik Regular" panose="020B0503030202060203" pitchFamily="34" charset="0"/>
                <a:ea typeface="+mn-ea"/>
                <a:cs typeface="+mn-cs"/>
              </a:defRPr>
            </a:lvl2pPr>
            <a:lvl3pPr marL="66979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400" kern="1200">
                <a:solidFill>
                  <a:schemeClr val="tx1">
                    <a:lumMod val="75000"/>
                    <a:lumOff val="25000"/>
                  </a:schemeClr>
                </a:solidFill>
                <a:latin typeface="Graphik Regular" panose="020B0503030202060203" pitchFamily="34" charset="0"/>
                <a:ea typeface="+mn-ea"/>
                <a:cs typeface="+mn-cs"/>
              </a:defRPr>
            </a:lvl3pPr>
            <a:lvl4pPr marL="85267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400" kern="1200">
                <a:solidFill>
                  <a:schemeClr val="tx1">
                    <a:lumMod val="75000"/>
                    <a:lumOff val="25000"/>
                  </a:schemeClr>
                </a:solidFill>
                <a:latin typeface="Graphik Regular" panose="020B0503030202060203" pitchFamily="34" charset="0"/>
                <a:ea typeface="+mn-ea"/>
                <a:cs typeface="+mn-cs"/>
              </a:defRPr>
            </a:lvl4pPr>
            <a:lvl5pPr marL="1035558" indent="-285750" algn="l" defTabSz="914400" rtl="0" eaLnBrk="1" latinLnBrk="0" hangingPunct="1">
              <a:lnSpc>
                <a:spcPct val="90000"/>
              </a:lnSpc>
              <a:spcBef>
                <a:spcPts val="200"/>
              </a:spcBef>
              <a:spcAft>
                <a:spcPts val="400"/>
              </a:spcAft>
              <a:buClr>
                <a:schemeClr val="accent2"/>
              </a:buClr>
              <a:buFont typeface="Arial" panose="020B0604020202020204" pitchFamily="34" charset="0"/>
              <a:buChar char="•"/>
              <a:defRPr sz="1400" kern="1200">
                <a:solidFill>
                  <a:schemeClr val="tx1">
                    <a:lumMod val="75000"/>
                    <a:lumOff val="25000"/>
                  </a:schemeClr>
                </a:solidFill>
                <a:latin typeface="Graphik Regular" panose="020B0503030202060203" pitchFamily="34"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1500" b="1" dirty="0">
                <a:solidFill>
                  <a:srgbClr val="000000"/>
                </a:solidFill>
                <a:latin typeface="Times New Roman"/>
                <a:ea typeface="Calibri"/>
                <a:cs typeface="Times New Roman"/>
              </a:rPr>
              <a:t>Possible Future improvements:</a:t>
            </a:r>
            <a:endParaRPr lang="en-US" sz="1500" dirty="0">
              <a:solidFill>
                <a:srgbClr val="000000"/>
              </a:solidFill>
              <a:latin typeface="Times New Roman"/>
              <a:ea typeface="Calibri"/>
              <a:cs typeface="Times New Roman"/>
            </a:endParaRPr>
          </a:p>
          <a:p>
            <a:pPr marL="215900" indent="-215900"/>
            <a:r>
              <a:rPr lang="en-US" sz="1500" dirty="0">
                <a:solidFill>
                  <a:srgbClr val="000000"/>
                </a:solidFill>
                <a:latin typeface="Times New Roman"/>
                <a:ea typeface="Calibri"/>
                <a:cs typeface="Times New Roman"/>
              </a:rPr>
              <a:t>A full version of app with full data sets.</a:t>
            </a:r>
          </a:p>
          <a:p>
            <a:pPr marL="215900" indent="-215900"/>
            <a:r>
              <a:rPr lang="en-US" sz="1500" dirty="0">
                <a:solidFill>
                  <a:srgbClr val="000000"/>
                </a:solidFill>
                <a:latin typeface="Times New Roman"/>
                <a:ea typeface="Calibri"/>
                <a:cs typeface="Times New Roman"/>
              </a:rPr>
              <a:t>Addition of more classes in target variable. </a:t>
            </a:r>
          </a:p>
          <a:p>
            <a:pPr marL="215900" indent="-215900"/>
            <a:endParaRPr lang="en-US" sz="1500" dirty="0">
              <a:solidFill>
                <a:srgbClr val="000000"/>
              </a:solidFill>
              <a:latin typeface="Calibri"/>
              <a:ea typeface="Calibri"/>
              <a:cs typeface="Calibri"/>
            </a:endParaRPr>
          </a:p>
        </p:txBody>
      </p:sp>
    </p:spTree>
    <p:extLst>
      <p:ext uri="{BB962C8B-B14F-4D97-AF65-F5344CB8AC3E}">
        <p14:creationId xmlns:p14="http://schemas.microsoft.com/office/powerpoint/2010/main" val="1786761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2CD86328-2369-3A09-9FA1-CD2F4BB020C2}"/>
              </a:ext>
            </a:extLst>
          </p:cNvPr>
          <p:cNvGraphicFramePr>
            <a:graphicFrameLocks noGrp="1"/>
          </p:cNvGraphicFramePr>
          <p:nvPr/>
        </p:nvGraphicFramePr>
        <p:xfrm>
          <a:off x="80682" y="71720"/>
          <a:ext cx="12111320" cy="6806314"/>
        </p:xfrm>
        <a:graphic>
          <a:graphicData uri="http://schemas.openxmlformats.org/drawingml/2006/table">
            <a:tbl>
              <a:tblPr firstRow="1" bandRow="1">
                <a:tableStyleId>{5940675A-B579-460E-94D1-54222C63F5DA}</a:tableStyleId>
              </a:tblPr>
              <a:tblGrid>
                <a:gridCol w="1629365">
                  <a:extLst>
                    <a:ext uri="{9D8B030D-6E8A-4147-A177-3AD203B41FA5}">
                      <a16:colId xmlns:a16="http://schemas.microsoft.com/office/drawing/2014/main" val="2372350435"/>
                    </a:ext>
                  </a:extLst>
                </a:gridCol>
                <a:gridCol w="1398465">
                  <a:extLst>
                    <a:ext uri="{9D8B030D-6E8A-4147-A177-3AD203B41FA5}">
                      <a16:colId xmlns:a16="http://schemas.microsoft.com/office/drawing/2014/main" val="862773583"/>
                    </a:ext>
                  </a:extLst>
                </a:gridCol>
                <a:gridCol w="1513915">
                  <a:extLst>
                    <a:ext uri="{9D8B030D-6E8A-4147-A177-3AD203B41FA5}">
                      <a16:colId xmlns:a16="http://schemas.microsoft.com/office/drawing/2014/main" val="915545707"/>
                    </a:ext>
                  </a:extLst>
                </a:gridCol>
                <a:gridCol w="1513915">
                  <a:extLst>
                    <a:ext uri="{9D8B030D-6E8A-4147-A177-3AD203B41FA5}">
                      <a16:colId xmlns:a16="http://schemas.microsoft.com/office/drawing/2014/main" val="2500554688"/>
                    </a:ext>
                  </a:extLst>
                </a:gridCol>
                <a:gridCol w="1513915">
                  <a:extLst>
                    <a:ext uri="{9D8B030D-6E8A-4147-A177-3AD203B41FA5}">
                      <a16:colId xmlns:a16="http://schemas.microsoft.com/office/drawing/2014/main" val="1075861341"/>
                    </a:ext>
                  </a:extLst>
                </a:gridCol>
                <a:gridCol w="1513915">
                  <a:extLst>
                    <a:ext uri="{9D8B030D-6E8A-4147-A177-3AD203B41FA5}">
                      <a16:colId xmlns:a16="http://schemas.microsoft.com/office/drawing/2014/main" val="3449983952"/>
                    </a:ext>
                  </a:extLst>
                </a:gridCol>
                <a:gridCol w="1513915">
                  <a:extLst>
                    <a:ext uri="{9D8B030D-6E8A-4147-A177-3AD203B41FA5}">
                      <a16:colId xmlns:a16="http://schemas.microsoft.com/office/drawing/2014/main" val="1697363996"/>
                    </a:ext>
                  </a:extLst>
                </a:gridCol>
                <a:gridCol w="1513915">
                  <a:extLst>
                    <a:ext uri="{9D8B030D-6E8A-4147-A177-3AD203B41FA5}">
                      <a16:colId xmlns:a16="http://schemas.microsoft.com/office/drawing/2014/main" val="2869113490"/>
                    </a:ext>
                  </a:extLst>
                </a:gridCol>
              </a:tblGrid>
              <a:tr h="366962">
                <a:tc rowSpan="2" gridSpan="3">
                  <a:txBody>
                    <a:bodyPr/>
                    <a:lstStyle/>
                    <a:p>
                      <a:pPr algn="l"/>
                      <a:r>
                        <a:rPr lang="en-US" sz="1600" b="1">
                          <a:solidFill>
                            <a:schemeClr val="tx1"/>
                          </a:solidFill>
                          <a:latin typeface="Arial"/>
                          <a:cs typeface="Arial"/>
                        </a:rPr>
                        <a:t>Data Science Canvas</a:t>
                      </a:r>
                      <a:endParaRPr lang="en-SG" sz="1600" b="1">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hMerge="1">
                  <a:txBody>
                    <a:bodyPr/>
                    <a:lstStyle/>
                    <a:p>
                      <a:endParaRPr lang="en-SG" sz="1200">
                        <a:latin typeface="Arial" panose="020B0604020202020204" pitchFamily="34" charset="0"/>
                        <a:cs typeface="Arial" panose="020B0604020202020204" pitchFamily="34" charset="0"/>
                      </a:endParaRPr>
                    </a:p>
                  </a:txBody>
                  <a:tcPr/>
                </a:tc>
                <a:tc rowSpan="2" hMerge="1">
                  <a:txBody>
                    <a:bodyPr/>
                    <a:lstStyle/>
                    <a:p>
                      <a:endParaRPr lang="en-SG" sz="1200">
                        <a:latin typeface="Arial" panose="020B0604020202020204" pitchFamily="34" charset="0"/>
                        <a:cs typeface="Arial" panose="020B0604020202020204" pitchFamily="34" charset="0"/>
                      </a:endParaRPr>
                    </a:p>
                  </a:txBody>
                  <a:tcPr/>
                </a:tc>
                <a:tc>
                  <a:txBody>
                    <a:bodyPr/>
                    <a:lstStyle/>
                    <a:p>
                      <a:r>
                        <a:rPr lang="en-US" sz="1200" b="1">
                          <a:solidFill>
                            <a:schemeClr val="tx1"/>
                          </a:solidFill>
                          <a:latin typeface="Arial"/>
                          <a:cs typeface="Arial"/>
                        </a:rPr>
                        <a:t>Project:</a:t>
                      </a:r>
                      <a:endParaRPr lang="en-SG" sz="1200" b="1">
                        <a:solidFill>
                          <a:schemeClr val="tx1"/>
                        </a:solidFill>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4">
                  <a:txBody>
                    <a:bodyPr/>
                    <a:lstStyle/>
                    <a:p>
                      <a:r>
                        <a:rPr lang="en-IN" sz="1800" b="0" i="0" u="none" strike="noStrike" kern="1200">
                          <a:solidFill>
                            <a:schemeClr val="tx1"/>
                          </a:solidFill>
                          <a:effectLst/>
                          <a:latin typeface="+mn-lt"/>
                          <a:ea typeface="+mn-ea"/>
                          <a:cs typeface="+mn-cs"/>
                        </a:rPr>
                        <a:t>US Accidents – Predictive Modelling and EDA</a:t>
                      </a:r>
                      <a:endParaRPr lang="en-SG" sz="120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SG"/>
                    </a:p>
                  </a:txBody>
                  <a:tcPr/>
                </a:tc>
                <a:tc hMerge="1">
                  <a:txBody>
                    <a:bodyPr/>
                    <a:lstStyle/>
                    <a:p>
                      <a:endParaRPr lang="en-SG" sz="1200">
                        <a:latin typeface="Arial" panose="020B0604020202020204" pitchFamily="34" charset="0"/>
                        <a:cs typeface="Arial" panose="020B0604020202020204" pitchFamily="34" charset="0"/>
                      </a:endParaRPr>
                    </a:p>
                  </a:txBody>
                  <a:tcPr/>
                </a:tc>
                <a:tc hMerge="1">
                  <a:txBody>
                    <a:bodyPr/>
                    <a:lstStyle/>
                    <a:p>
                      <a:endParaRPr lang="en-SG"/>
                    </a:p>
                  </a:txBody>
                  <a:tcPr/>
                </a:tc>
                <a:extLst>
                  <a:ext uri="{0D108BD9-81ED-4DB2-BD59-A6C34878D82A}">
                    <a16:rowId xmlns:a16="http://schemas.microsoft.com/office/drawing/2014/main" val="871225731"/>
                  </a:ext>
                </a:extLst>
              </a:tr>
              <a:tr h="275221">
                <a:tc gridSpan="3" vMerge="1">
                  <a:txBody>
                    <a:bodyPr/>
                    <a:lstStyle/>
                    <a:p>
                      <a:endParaRPr lang="en-SG" sz="1200">
                        <a:latin typeface="Arial" panose="020B0604020202020204" pitchFamily="34" charset="0"/>
                        <a:cs typeface="Arial" panose="020B0604020202020204" pitchFamily="34" charset="0"/>
                      </a:endParaRPr>
                    </a:p>
                  </a:txBody>
                  <a:tcPr/>
                </a:tc>
                <a:tc hMerge="1" vMerge="1">
                  <a:txBody>
                    <a:bodyPr/>
                    <a:lstStyle/>
                    <a:p>
                      <a:endParaRPr lang="en-SG" sz="1200">
                        <a:latin typeface="Arial" panose="020B0604020202020204" pitchFamily="34" charset="0"/>
                        <a:cs typeface="Arial" panose="020B0604020202020204" pitchFamily="34" charset="0"/>
                      </a:endParaRPr>
                    </a:p>
                  </a:txBody>
                  <a:tcPr/>
                </a:tc>
                <a:tc hMerge="1" vMerge="1">
                  <a:txBody>
                    <a:bodyPr/>
                    <a:lstStyle/>
                    <a:p>
                      <a:endParaRPr lang="en-SG" sz="1200">
                        <a:latin typeface="Arial" panose="020B0604020202020204" pitchFamily="34" charset="0"/>
                        <a:cs typeface="Arial" panose="020B0604020202020204" pitchFamily="34" charset="0"/>
                      </a:endParaRPr>
                    </a:p>
                  </a:txBody>
                  <a:tcPr/>
                </a:tc>
                <a:tc>
                  <a:txBody>
                    <a:bodyPr/>
                    <a:lstStyle/>
                    <a:p>
                      <a:r>
                        <a:rPr lang="en-US" sz="1200" b="1">
                          <a:solidFill>
                            <a:schemeClr val="tx1"/>
                          </a:solidFill>
                          <a:latin typeface="Arial"/>
                          <a:cs typeface="Arial"/>
                        </a:rPr>
                        <a:t>Team:</a:t>
                      </a:r>
                      <a:endParaRPr lang="en-SG" sz="1200" b="1">
                        <a:solidFill>
                          <a:schemeClr val="tx1"/>
                        </a:solidFill>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50" b="1" i="0" u="none" strike="noStrike">
                          <a:solidFill>
                            <a:schemeClr val="tx1"/>
                          </a:solidFill>
                          <a:effectLst/>
                          <a:latin typeface="Times New Roman"/>
                          <a:cs typeface="Times New Roman"/>
                        </a:rPr>
                        <a:t>Roupyajay</a:t>
                      </a:r>
                      <a:r>
                        <a:rPr lang="en-IN" sz="1050" b="1" i="0" u="none" strike="noStrike">
                          <a:solidFill>
                            <a:schemeClr val="tx1"/>
                          </a:solidFill>
                          <a:effectLst/>
                          <a:latin typeface="Times New Roman"/>
                          <a:cs typeface="Times New Roman"/>
                        </a:rPr>
                        <a:t> Bhattacharya, </a:t>
                      </a:r>
                      <a:r>
                        <a:rPr lang="en-US" sz="1050" b="1" i="0" u="none" strike="noStrike">
                          <a:solidFill>
                            <a:schemeClr val="tx1"/>
                          </a:solidFill>
                          <a:effectLst/>
                          <a:latin typeface="Times New Roman"/>
                          <a:cs typeface="Times New Roman"/>
                        </a:rPr>
                        <a:t>Umesh BP, Madipally</a:t>
                      </a:r>
                      <a:r>
                        <a:rPr lang="en-IN" sz="1050" b="1" i="0" u="none" strike="noStrike">
                          <a:solidFill>
                            <a:schemeClr val="tx1"/>
                          </a:solidFill>
                          <a:effectLst/>
                          <a:latin typeface="Times New Roman"/>
                          <a:cs typeface="Times New Roman"/>
                        </a:rPr>
                        <a:t> Bhagath Chandra, </a:t>
                      </a:r>
                      <a:r>
                        <a:rPr lang="en-US" sz="1050" b="1" i="0" u="none" strike="noStrike">
                          <a:solidFill>
                            <a:schemeClr val="tx1"/>
                          </a:solidFill>
                          <a:effectLst/>
                          <a:latin typeface="Times New Roman"/>
                          <a:cs typeface="Times New Roman"/>
                        </a:rPr>
                        <a:t>Ninad</a:t>
                      </a:r>
                      <a:r>
                        <a:rPr lang="en-IN" sz="1050" b="1" i="0" u="none" strike="noStrike">
                          <a:solidFill>
                            <a:schemeClr val="tx1"/>
                          </a:solidFill>
                          <a:effectLst/>
                          <a:latin typeface="Times New Roman"/>
                          <a:cs typeface="Times New Roman"/>
                        </a:rPr>
                        <a:t> Phadnis</a:t>
                      </a:r>
                      <a:endParaRPr lang="en-SG" sz="1050" b="1" i="0">
                        <a:solidFill>
                          <a:schemeClr val="tx1"/>
                        </a:solidFill>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SG"/>
                    </a:p>
                  </a:txBody>
                  <a:tcPr/>
                </a:tc>
                <a:tc hMerge="1">
                  <a:txBody>
                    <a:bodyPr/>
                    <a:lstStyle/>
                    <a:p>
                      <a:endParaRPr lang="en-SG" sz="1200">
                        <a:latin typeface="Arial" panose="020B0604020202020204" pitchFamily="34" charset="0"/>
                        <a:cs typeface="Arial" panose="020B0604020202020204" pitchFamily="34" charset="0"/>
                      </a:endParaRPr>
                    </a:p>
                  </a:txBody>
                  <a:tcPr/>
                </a:tc>
                <a:tc hMerge="1">
                  <a:txBody>
                    <a:bodyPr/>
                    <a:lstStyle/>
                    <a:p>
                      <a:endParaRPr lang="en-SG"/>
                    </a:p>
                  </a:txBody>
                  <a:tcPr/>
                </a:tc>
                <a:extLst>
                  <a:ext uri="{0D108BD9-81ED-4DB2-BD59-A6C34878D82A}">
                    <a16:rowId xmlns:a16="http://schemas.microsoft.com/office/drawing/2014/main" val="2833998441"/>
                  </a:ext>
                </a:extLst>
              </a:tr>
              <a:tr h="305801">
                <a:tc gridSpan="4">
                  <a:txBody>
                    <a:bodyPr/>
                    <a:lstStyle/>
                    <a:p>
                      <a:pPr algn="ctr"/>
                      <a:r>
                        <a:rPr lang="en-US" sz="1400" b="1">
                          <a:latin typeface="Arial"/>
                          <a:cs typeface="Arial"/>
                        </a:rPr>
                        <a:t>Problem Statement</a:t>
                      </a:r>
                      <a:endParaRPr lang="en-SG" sz="1400" b="1">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SG"/>
                    </a:p>
                  </a:txBody>
                  <a:tcPr/>
                </a:tc>
                <a:tc hMerge="1">
                  <a:txBody>
                    <a:bodyPr/>
                    <a:lstStyle/>
                    <a:p>
                      <a:endParaRPr lang="en-SG"/>
                    </a:p>
                  </a:txBody>
                  <a:tcPr/>
                </a:tc>
                <a:tc hMerge="1">
                  <a:txBody>
                    <a:bodyPr/>
                    <a:lstStyle/>
                    <a:p>
                      <a:endParaRPr lang="en-SG"/>
                    </a:p>
                  </a:txBody>
                  <a:tcPr/>
                </a:tc>
                <a:tc gridSpan="2">
                  <a:txBody>
                    <a:bodyPr/>
                    <a:lstStyle/>
                    <a:p>
                      <a:pPr algn="ctr"/>
                      <a:r>
                        <a:rPr lang="en-SG" sz="1400" b="1">
                          <a:latin typeface="Arial"/>
                          <a:cs typeface="Arial"/>
                        </a:rPr>
                        <a:t>Execution &amp; Evaluation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SG"/>
                    </a:p>
                  </a:txBody>
                  <a:tcPr/>
                </a:tc>
                <a:tc gridSpan="2">
                  <a:txBody>
                    <a:bodyPr/>
                    <a:lstStyle/>
                    <a:p>
                      <a:pPr algn="ctr"/>
                      <a:r>
                        <a:rPr lang="en-SG" sz="1200" b="1">
                          <a:latin typeface="Arial"/>
                          <a:cs typeface="Arial"/>
                        </a:rPr>
                        <a:t>Data Collection &amp; Preparation</a:t>
                      </a:r>
                      <a:endParaRPr lang="en-SG" sz="1400" b="1">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SG"/>
                    </a:p>
                  </a:txBody>
                  <a:tcPr/>
                </a:tc>
                <a:extLst>
                  <a:ext uri="{0D108BD9-81ED-4DB2-BD59-A6C34878D82A}">
                    <a16:rowId xmlns:a16="http://schemas.microsoft.com/office/drawing/2014/main" val="1105611200"/>
                  </a:ext>
                </a:extLst>
              </a:tr>
              <a:tr h="2706342">
                <a:tc>
                  <a:txBody>
                    <a:bodyPr/>
                    <a:lstStyle/>
                    <a:p>
                      <a:r>
                        <a:rPr lang="en-US" sz="900" b="1">
                          <a:latin typeface="Arial"/>
                          <a:cs typeface="Arial"/>
                        </a:rPr>
                        <a:t>Business Case &amp; Value Added</a:t>
                      </a:r>
                    </a:p>
                    <a:p>
                      <a:r>
                        <a:rPr lang="en-US" sz="900">
                          <a:latin typeface="Arial"/>
                          <a:cs typeface="Arial"/>
                        </a:rPr>
                        <a:t>Which business case should be analyzed and what added value  does it generate?</a:t>
                      </a:r>
                    </a:p>
                    <a:p>
                      <a:endParaRPr lang="en-SG" sz="90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800" b="0" i="0" u="none" strike="noStrike">
                          <a:solidFill>
                            <a:srgbClr val="0070C0"/>
                          </a:solidFill>
                          <a:effectLst/>
                          <a:latin typeface="Arial"/>
                          <a:cs typeface="Arial"/>
                        </a:rPr>
                        <a:t>Understand the impact of various factors on severity of accidents</a:t>
                      </a:r>
                      <a:r>
                        <a:rPr lang="en-SG" sz="800" b="0" i="0" u="none" strike="noStrike">
                          <a:solidFill>
                            <a:srgbClr val="0070C0"/>
                          </a:solidFill>
                          <a:effectLst/>
                          <a:latin typeface="Arial"/>
                          <a:cs typeface="Arial"/>
                        </a:rPr>
                        <a:t> </a:t>
                      </a:r>
                      <a:r>
                        <a:rPr lang="en-US" sz="800" b="0" i="0" u="none" strike="noStrike">
                          <a:solidFill>
                            <a:srgbClr val="0070C0"/>
                          </a:solidFill>
                          <a:effectLst/>
                          <a:latin typeface="Arial"/>
                          <a:cs typeface="Arial"/>
                        </a:rPr>
                        <a:t>to reduce severity of accidents to save life</a:t>
                      </a:r>
                      <a:r>
                        <a:rPr lang="en-SG" sz="800" b="0" i="0" u="none" strike="noStrike">
                          <a:solidFill>
                            <a:srgbClr val="0070C0"/>
                          </a:solidFill>
                          <a:effectLst/>
                          <a:latin typeface="Arial"/>
                          <a:cs typeface="Arial"/>
                        </a:rPr>
                        <a:t> .</a:t>
                      </a:r>
                      <a:endParaRPr lang="en-IN" sz="800" b="0" i="0" u="none" strike="noStrike">
                        <a:solidFill>
                          <a:srgbClr val="0070C0"/>
                        </a:solidFill>
                        <a:effectLst/>
                        <a:latin typeface="Arial"/>
                        <a:cs typeface="Arial"/>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070C0"/>
                          </a:solidFill>
                          <a:effectLst/>
                          <a:latin typeface="Arial"/>
                          <a:cs typeface="Arial"/>
                        </a:rPr>
                        <a:t>US Accidents – Predictive Modelling</a:t>
                      </a:r>
                    </a:p>
                    <a:p>
                      <a:pPr marL="0" marR="0" indent="0" algn="l" defTabSz="914400" rtl="0" eaLnBrk="1" fontAlgn="auto" latinLnBrk="0" hangingPunct="1">
                        <a:lnSpc>
                          <a:spcPct val="100000"/>
                        </a:lnSpc>
                        <a:spcBef>
                          <a:spcPts val="0"/>
                        </a:spcBef>
                        <a:spcAft>
                          <a:spcPts val="0"/>
                        </a:spcAft>
                        <a:buClrTx/>
                        <a:buSzTx/>
                        <a:buFontTx/>
                        <a:buNone/>
                        <a:tabLst/>
                        <a:defRPr/>
                      </a:pPr>
                      <a:endParaRPr lang="en-SG" sz="800">
                        <a:solidFill>
                          <a:srgbClr val="0070C0"/>
                        </a:solidFill>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800" b="0" i="0" u="none" strike="noStrike">
                          <a:solidFill>
                            <a:srgbClr val="0070C0"/>
                          </a:solidFill>
                          <a:effectLst/>
                          <a:latin typeface="Arial"/>
                          <a:cs typeface="Arial"/>
                        </a:rPr>
                        <a:t>Offices can give flexibility for log in and log off to avoid the rush leading to accidents.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800" b="0" i="0" u="none" strike="noStrike">
                        <a:solidFill>
                          <a:srgbClr val="0070C0"/>
                        </a:solidFill>
                        <a:effectLst/>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800" b="0" i="0" u="none" strike="noStrike">
                          <a:solidFill>
                            <a:srgbClr val="0070C0"/>
                          </a:solidFill>
                          <a:effectLst/>
                          <a:latin typeface="Arial"/>
                          <a:cs typeface="Arial"/>
                        </a:rPr>
                        <a:t>Clinics / ambulances can be deployed in vicinity of the red zones as per the heat map to optimized use of the healthcare services and ensuring quick treatments</a:t>
                      </a:r>
                      <a:r>
                        <a:rPr lang="en-US" sz="700" b="0" i="0" u="none" strike="noStrike">
                          <a:solidFill>
                            <a:srgbClr val="0070C0"/>
                          </a:solidFill>
                          <a:effectLst/>
                          <a:latin typeface="Graphik Regular" panose="020B0503030202060203"/>
                        </a:rPr>
                        <a:t>.</a:t>
                      </a:r>
                      <a:endParaRPr lang="en-SG" sz="700">
                        <a:solidFill>
                          <a:srgbClr val="0070C0"/>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900" b="1">
                          <a:latin typeface="Arial"/>
                          <a:cs typeface="Arial"/>
                        </a:rPr>
                        <a:t>Model Selection</a:t>
                      </a:r>
                    </a:p>
                    <a:p>
                      <a:r>
                        <a:rPr lang="en-US" sz="900">
                          <a:latin typeface="Arial"/>
                          <a:cs typeface="Arial"/>
                        </a:rPr>
                        <a:t>Which analysis methods can be  considered on the basis of the  specific data landscape and the  business case?</a:t>
                      </a:r>
                    </a:p>
                    <a:p>
                      <a:endParaRPr lang="en-US" sz="900">
                        <a:latin typeface="Arial" panose="020B0604020202020204" pitchFamily="34" charset="0"/>
                        <a:cs typeface="Arial" panose="020B0604020202020204" pitchFamily="34" charset="0"/>
                      </a:endParaRPr>
                    </a:p>
                    <a:p>
                      <a:pPr lvl="0">
                        <a:buNone/>
                      </a:pPr>
                      <a:r>
                        <a:rPr lang="en-US" sz="800" b="0" i="0" u="none" strike="noStrike" kern="1200">
                          <a:solidFill>
                            <a:srgbClr val="0070C0"/>
                          </a:solidFill>
                          <a:effectLst/>
                          <a:latin typeface="Arial"/>
                          <a:ea typeface="+mn-ea"/>
                          <a:cs typeface="Arial"/>
                        </a:rPr>
                        <a:t>Ensemble of </a:t>
                      </a:r>
                    </a:p>
                    <a:p>
                      <a:r>
                        <a:rPr lang="en-US" sz="900">
                          <a:solidFill>
                            <a:srgbClr val="0070C0"/>
                          </a:solidFill>
                          <a:latin typeface="Arial"/>
                          <a:cs typeface="Arial"/>
                        </a:rPr>
                        <a:t> - </a:t>
                      </a:r>
                      <a:r>
                        <a:rPr lang="en-US" sz="800">
                          <a:solidFill>
                            <a:srgbClr val="0070C0"/>
                          </a:solidFill>
                          <a:latin typeface="Arial"/>
                          <a:cs typeface="Arial"/>
                        </a:rPr>
                        <a:t>Logistic Regression</a:t>
                      </a:r>
                    </a:p>
                    <a:p>
                      <a:r>
                        <a:rPr lang="en-US" sz="800">
                          <a:solidFill>
                            <a:srgbClr val="0070C0"/>
                          </a:solidFill>
                          <a:latin typeface="Arial"/>
                          <a:cs typeface="Arial"/>
                        </a:rPr>
                        <a:t> - XGBoost</a:t>
                      </a:r>
                    </a:p>
                    <a:p>
                      <a:r>
                        <a:rPr lang="en-US" sz="800">
                          <a:solidFill>
                            <a:srgbClr val="0070C0"/>
                          </a:solidFill>
                          <a:latin typeface="Arial"/>
                          <a:cs typeface="Arial"/>
                        </a:rPr>
                        <a:t> - Random Forest</a:t>
                      </a:r>
                    </a:p>
                    <a:p>
                      <a:endParaRPr lang="en-US" sz="900">
                        <a:solidFill>
                          <a:schemeClr val="accent2">
                            <a:lumMod val="75000"/>
                          </a:schemeClr>
                        </a:solidFill>
                        <a:latin typeface="Arial" panose="020B0604020202020204" pitchFamily="34" charset="0"/>
                        <a:cs typeface="Arial" panose="020B0604020202020204" pitchFamily="34" charset="0"/>
                      </a:endParaRPr>
                    </a:p>
                    <a:p>
                      <a:endParaRPr lang="en-SG" sz="90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b="1">
                          <a:latin typeface="Arial"/>
                          <a:cs typeface="Arial"/>
                        </a:rPr>
                        <a:t>Model Requirements</a:t>
                      </a:r>
                    </a:p>
                    <a:p>
                      <a:r>
                        <a:rPr lang="en-US" sz="900">
                          <a:latin typeface="Arial"/>
                          <a:cs typeface="Arial"/>
                        </a:rPr>
                        <a:t>Which model requirements must be  complied with in order to obtain a  valid model?</a:t>
                      </a:r>
                    </a:p>
                    <a:p>
                      <a:endParaRPr lang="en-SG" sz="90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SG" sz="800">
                          <a:solidFill>
                            <a:schemeClr val="accent2"/>
                          </a:solidFill>
                          <a:latin typeface="Arial"/>
                          <a:cs typeface="Arial"/>
                        </a:rPr>
                        <a:t> </a:t>
                      </a:r>
                      <a:r>
                        <a:rPr lang="en-US" sz="800">
                          <a:solidFill>
                            <a:srgbClr val="0070C0"/>
                          </a:solidFill>
                          <a:latin typeface="Arial"/>
                          <a:cs typeface="Arial"/>
                        </a:rPr>
                        <a:t>Extensive Data Analysis must be performed to remove outliners &amp; covariance among  features. </a:t>
                      </a:r>
                    </a:p>
                    <a:p>
                      <a:pPr marL="0" marR="0" indent="0" algn="l" defTabSz="914400" rtl="0" eaLnBrk="1" fontAlgn="auto" latinLnBrk="0" hangingPunct="1">
                        <a:lnSpc>
                          <a:spcPct val="100000"/>
                        </a:lnSpc>
                        <a:spcBef>
                          <a:spcPts val="0"/>
                        </a:spcBef>
                        <a:spcAft>
                          <a:spcPts val="0"/>
                        </a:spcAft>
                        <a:buClrTx/>
                        <a:buSzTx/>
                        <a:buFontTx/>
                        <a:buNone/>
                        <a:tabLst/>
                        <a:defRPr/>
                      </a:pPr>
                      <a:r>
                        <a:rPr lang="en-SG" sz="800" b="0" i="0">
                          <a:solidFill>
                            <a:srgbClr val="0070C0"/>
                          </a:solidFill>
                          <a:effectLst/>
                          <a:latin typeface="Arial"/>
                        </a:rPr>
                        <a:t>Need ML classification model like Logistic Regression, Decision Tree or Ensemble model like Random Forest to obtain a valid model</a:t>
                      </a:r>
                      <a:endParaRPr lang="en-US" sz="800">
                        <a:solidFill>
                          <a:srgbClr val="0070C0"/>
                        </a:solidFill>
                        <a:latin typeface="Arial"/>
                        <a:cs typeface="Arial" panose="020B0604020202020204" pitchFamily="34" charset="0"/>
                      </a:endParaRPr>
                    </a:p>
                    <a:p>
                      <a:endParaRPr lang="en-US" sz="900">
                        <a:solidFill>
                          <a:schemeClr val="accent2"/>
                        </a:solidFill>
                        <a:latin typeface="Arial" panose="020B0604020202020204" pitchFamily="34" charset="0"/>
                        <a:cs typeface="Arial" panose="020B0604020202020204" pitchFamily="34" charset="0"/>
                      </a:endParaRPr>
                    </a:p>
                    <a:p>
                      <a:r>
                        <a:rPr lang="en-US" sz="900">
                          <a:solidFill>
                            <a:schemeClr val="accent2"/>
                          </a:solidFill>
                          <a:latin typeface="Arial"/>
                          <a:cs typeface="Arial"/>
                        </a:rPr>
                        <a:t>.</a:t>
                      </a:r>
                      <a:endParaRPr lang="en-SG" sz="900">
                        <a:solidFill>
                          <a:schemeClr val="accent2"/>
                        </a:solidFill>
                        <a:latin typeface="Arial"/>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900" b="1">
                          <a:latin typeface="Arial"/>
                          <a:cs typeface="Arial"/>
                        </a:rPr>
                        <a:t>Skills</a:t>
                      </a:r>
                    </a:p>
                    <a:p>
                      <a:r>
                        <a:rPr lang="en-US" sz="900">
                          <a:latin typeface="Arial"/>
                          <a:cs typeface="Arial"/>
                        </a:rPr>
                        <a:t>What skills are needed to provide the data and model development?</a:t>
                      </a:r>
                    </a:p>
                    <a:p>
                      <a:endParaRPr lang="en-SG" sz="900">
                        <a:latin typeface="Arial" panose="020B0604020202020204" pitchFamily="34" charset="0"/>
                        <a:cs typeface="Arial" panose="020B0604020202020204" pitchFamily="34" charset="0"/>
                      </a:endParaRPr>
                    </a:p>
                    <a:p>
                      <a:r>
                        <a:rPr lang="en-SG" sz="900">
                          <a:solidFill>
                            <a:schemeClr val="accent2"/>
                          </a:solidFill>
                          <a:latin typeface="Arial"/>
                          <a:cs typeface="Arial"/>
                        </a:rPr>
                        <a:t> </a:t>
                      </a:r>
                      <a:r>
                        <a:rPr lang="en-SG" sz="900">
                          <a:solidFill>
                            <a:srgbClr val="0070C0"/>
                          </a:solidFill>
                          <a:latin typeface="Arial"/>
                          <a:cs typeface="Arial"/>
                        </a:rPr>
                        <a:t>- Data Science hands on learning.</a:t>
                      </a:r>
                    </a:p>
                    <a:p>
                      <a:pPr algn="l" rtl="0" fontAlgn="base">
                        <a:buNone/>
                      </a:pPr>
                      <a:r>
                        <a:rPr lang="en-SG"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Knowledge on data preprocessing &amp; cleaning</a:t>
                      </a:r>
                      <a:r>
                        <a:rPr lang="en-SG" sz="900" b="0" i="0">
                          <a:solidFill>
                            <a:srgbClr val="0070C0"/>
                          </a:solidFill>
                          <a:effectLst/>
                          <a:latin typeface="Arial"/>
                          <a:cs typeface="Arial"/>
                        </a:rPr>
                        <a:t> </a:t>
                      </a:r>
                      <a:r>
                        <a:rPr lang="en-SG" sz="900" b="0" i="0" u="none" strike="noStrike">
                          <a:solidFill>
                            <a:srgbClr val="0070C0"/>
                          </a:solidFill>
                          <a:effectLst/>
                          <a:latin typeface="Arial"/>
                        </a:rPr>
                        <a:t>Knowledge </a:t>
                      </a:r>
                      <a:r>
                        <a:rPr lang="en-SG" sz="900" b="0" i="0">
                          <a:solidFill>
                            <a:srgbClr val="0070C0"/>
                          </a:solidFill>
                          <a:effectLst/>
                          <a:latin typeface="Arial"/>
                        </a:rPr>
                        <a:t>on Explanatory Data Analysis ​</a:t>
                      </a:r>
                    </a:p>
                    <a:p>
                      <a:pPr algn="l" rtl="0" fontAlgn="base">
                        <a:lnSpc>
                          <a:spcPts val="975"/>
                        </a:lnSpc>
                        <a:buNone/>
                      </a:pPr>
                      <a:r>
                        <a:rPr lang="en-SG" sz="900" b="0" i="0">
                          <a:solidFill>
                            <a:srgbClr val="0070C0"/>
                          </a:solidFill>
                          <a:effectLst/>
                          <a:latin typeface="Arial"/>
                        </a:rPr>
                        <a:t>​</a:t>
                      </a:r>
                    </a:p>
                    <a:p>
                      <a:pPr algn="l" rtl="0" fontAlgn="base">
                        <a:lnSpc>
                          <a:spcPts val="975"/>
                        </a:lnSpc>
                        <a:buNone/>
                      </a:pPr>
                      <a:r>
                        <a:rPr lang="en-SG" sz="900" b="0" i="0" u="none" strike="noStrike">
                          <a:solidFill>
                            <a:srgbClr val="0070C0"/>
                          </a:solidFill>
                          <a:effectLst/>
                          <a:latin typeface="Arial"/>
                        </a:rPr>
                        <a:t>Knowledge </a:t>
                      </a:r>
                      <a:r>
                        <a:rPr lang="en-SG" sz="900" b="0" i="0">
                          <a:solidFill>
                            <a:srgbClr val="0070C0"/>
                          </a:solidFill>
                          <a:effectLst/>
                          <a:latin typeface="Arial"/>
                        </a:rPr>
                        <a:t>on model building and model validation</a:t>
                      </a:r>
                      <a:r>
                        <a:rPr lang="en-US"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a:t>
                      </a:r>
                    </a:p>
                    <a:p>
                      <a:pPr algn="l" rtl="0" fontAlgn="base">
                        <a:lnSpc>
                          <a:spcPts val="975"/>
                        </a:lnSpc>
                        <a:buNone/>
                      </a:pPr>
                      <a:r>
                        <a:rPr lang="en-SG" sz="900" b="0" i="0" u="none" strike="noStrike">
                          <a:solidFill>
                            <a:srgbClr val="0070C0"/>
                          </a:solidFill>
                          <a:effectLst/>
                          <a:latin typeface="Arial"/>
                        </a:rPr>
                        <a:t>Knowledge on Python libraries</a:t>
                      </a:r>
                      <a:r>
                        <a:rPr lang="en-US"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a:t>
                      </a:r>
                    </a:p>
                    <a:p>
                      <a:pPr algn="l" rtl="0" fontAlgn="base">
                        <a:lnSpc>
                          <a:spcPts val="975"/>
                        </a:lnSpc>
                        <a:buNone/>
                      </a:pPr>
                      <a:r>
                        <a:rPr lang="en-SG" sz="900" b="0" i="0" u="none" strike="noStrike">
                          <a:solidFill>
                            <a:srgbClr val="0070C0"/>
                          </a:solidFill>
                          <a:effectLst/>
                          <a:latin typeface="Arial"/>
                        </a:rPr>
                        <a:t>Knowledge in Google Collab</a:t>
                      </a:r>
                      <a:r>
                        <a:rPr lang="en-US"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a:t>
                      </a:r>
                    </a:p>
                    <a:p>
                      <a:pPr algn="l" rtl="0" fontAlgn="base">
                        <a:lnSpc>
                          <a:spcPts val="975"/>
                        </a:lnSpc>
                        <a:buNone/>
                      </a:pPr>
                      <a:r>
                        <a:rPr lang="en-SG" sz="900" b="0" i="0" u="none" strike="noStrike">
                          <a:solidFill>
                            <a:srgbClr val="0070C0"/>
                          </a:solidFill>
                          <a:effectLst/>
                          <a:latin typeface="Arial"/>
                        </a:rPr>
                        <a:t>Knowledge on integration &amp; reporting</a:t>
                      </a:r>
                      <a:r>
                        <a:rPr lang="en-US" sz="900" b="0" i="0">
                          <a:solidFill>
                            <a:srgbClr val="0070C0"/>
                          </a:solidFill>
                          <a:effectLst/>
                          <a:latin typeface="Arial"/>
                        </a:rPr>
                        <a:t>​</a:t>
                      </a:r>
                    </a:p>
                    <a:p>
                      <a:pPr algn="l" rtl="0" fontAlgn="base">
                        <a:lnSpc>
                          <a:spcPts val="975"/>
                        </a:lnSpc>
                        <a:buNone/>
                      </a:pPr>
                      <a:r>
                        <a:rPr lang="en-SG" sz="900" b="0" i="0">
                          <a:solidFill>
                            <a:srgbClr val="0070C0"/>
                          </a:solidFill>
                          <a:effectLst/>
                          <a:latin typeface="Arial"/>
                        </a:rPr>
                        <a:t>​</a:t>
                      </a:r>
                    </a:p>
                    <a:p>
                      <a:pPr marL="0" marR="0" indent="0" algn="l" defTabSz="914400" rtl="0" eaLnBrk="1" fontAlgn="base" latinLnBrk="0" hangingPunct="1">
                        <a:lnSpc>
                          <a:spcPts val="975"/>
                        </a:lnSpc>
                        <a:spcBef>
                          <a:spcPts val="0"/>
                        </a:spcBef>
                        <a:spcAft>
                          <a:spcPts val="0"/>
                        </a:spcAft>
                        <a:buClrTx/>
                        <a:buSzTx/>
                        <a:buFontTx/>
                        <a:buNone/>
                        <a:tabLst/>
                        <a:defRPr/>
                      </a:pPr>
                      <a:endParaRPr lang="en-US" sz="900" b="0" i="0">
                        <a:solidFill>
                          <a:srgbClr val="000000"/>
                        </a:solidFill>
                        <a:effectLst/>
                        <a:latin typeface="Segoe UI" panose="020B05020402040202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r>
                        <a:rPr lang="en-US" sz="900" b="1">
                          <a:latin typeface="Arial"/>
                          <a:cs typeface="Arial"/>
                        </a:rPr>
                        <a:t>Model Evaluation</a:t>
                      </a:r>
                    </a:p>
                    <a:p>
                      <a:r>
                        <a:rPr lang="en-US" sz="900">
                          <a:latin typeface="Arial"/>
                          <a:cs typeface="Arial"/>
                        </a:rPr>
                        <a:t>Which indicators require quality  control and validation and how  should they be interpreted? Is  real-time monitoring necessary?</a:t>
                      </a:r>
                    </a:p>
                    <a:p>
                      <a:endParaRPr lang="en-SG" sz="900">
                        <a:solidFill>
                          <a:srgbClr val="0070C0"/>
                        </a:solidFill>
                        <a:latin typeface="Arial" panose="020B0604020202020204" pitchFamily="34" charset="0"/>
                        <a:cs typeface="Arial" panose="020B0604020202020204" pitchFamily="34" charset="0"/>
                      </a:endParaRPr>
                    </a:p>
                    <a:p>
                      <a:pPr algn="l" rtl="0" fontAlgn="base">
                        <a:lnSpc>
                          <a:spcPts val="975"/>
                        </a:lnSpc>
                        <a:buNone/>
                      </a:pPr>
                      <a:r>
                        <a:rPr lang="en-SG" sz="800" b="0" i="0">
                          <a:solidFill>
                            <a:srgbClr val="0070C0"/>
                          </a:solidFill>
                          <a:effectLst/>
                          <a:latin typeface="Arial"/>
                          <a:cs typeface="Arial"/>
                        </a:rPr>
                        <a:t>Parameters: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Accuracy: To </a:t>
                      </a:r>
                      <a:r>
                        <a:rPr lang="en-SG" sz="800" b="0" i="0" u="none" strike="noStrike">
                          <a:solidFill>
                            <a:srgbClr val="0070C0"/>
                          </a:solidFill>
                          <a:effectLst/>
                          <a:latin typeface="Arial"/>
                          <a:cs typeface="Arial"/>
                        </a:rPr>
                        <a:t>Measure overall correctness of predictions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Precision, Recall, F1-score: To Measure trade-off between false positives and false negatives</a:t>
                      </a:r>
                      <a:r>
                        <a:rPr lang="en-SG"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Confusion Matrix: to show classification breakdown per class</a:t>
                      </a:r>
                      <a:r>
                        <a:rPr lang="en-SG"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AUC / ROC: To Measures ability to separate classes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Cross-Validation (K-Fold): Reduces overfitting by testing model on multiple folds</a:t>
                      </a:r>
                      <a:endParaRPr lang="en-US" sz="800" b="0" i="0">
                        <a:solidFill>
                          <a:srgbClr val="0070C0"/>
                        </a:solidFill>
                        <a:effectLst/>
                        <a:latin typeface="Arial"/>
                        <a:cs typeface="Arial"/>
                      </a:endParaRPr>
                    </a:p>
                    <a:p>
                      <a:endParaRPr lang="en-SG" sz="800">
                        <a:solidFill>
                          <a:srgbClr val="0070C0"/>
                        </a:solidFill>
                        <a:latin typeface="Arial" panose="020B0604020202020204" pitchFamily="34" charset="0"/>
                        <a:cs typeface="Arial" panose="020B0604020202020204" pitchFamily="34" charset="0"/>
                      </a:endParaRPr>
                    </a:p>
                    <a:p>
                      <a:r>
                        <a:rPr lang="en-SG" sz="800">
                          <a:solidFill>
                            <a:srgbClr val="0070C0"/>
                          </a:solidFill>
                          <a:latin typeface="Arial"/>
                          <a:cs typeface="Arial"/>
                        </a:rPr>
                        <a:t> - Real time monitoring can be done. The data we have has been split into training and testing part and then the validation has been done. In the test data we can add more columns which will be part of the test which will help with the 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indent="0">
                        <a:buFont typeface="Arial" panose="020B0604020202020204" pitchFamily="34" charset="0"/>
                        <a:buNone/>
                      </a:pPr>
                      <a:r>
                        <a:rPr lang="en-US" sz="900" b="1" kern="1200">
                          <a:solidFill>
                            <a:schemeClr val="tx1"/>
                          </a:solidFill>
                          <a:latin typeface="Arial"/>
                          <a:ea typeface="+mn-ea"/>
                          <a:cs typeface="Arial"/>
                        </a:rPr>
                        <a:t>Data Storytelling</a:t>
                      </a:r>
                    </a:p>
                    <a:p>
                      <a:pPr marL="0" indent="0">
                        <a:buFont typeface="Arial" panose="020B0604020202020204" pitchFamily="34" charset="0"/>
                        <a:buNone/>
                      </a:pPr>
                      <a:r>
                        <a:rPr lang="en-US" sz="900" kern="1200">
                          <a:solidFill>
                            <a:schemeClr val="tx1"/>
                          </a:solidFill>
                          <a:latin typeface="Arial"/>
                          <a:ea typeface="+mn-ea"/>
                          <a:cs typeface="Arial"/>
                        </a:rPr>
                        <a:t>What requirements does the target  group have for the presentation of  the results and how do I effectively  communicate this data?</a:t>
                      </a:r>
                    </a:p>
                    <a:p>
                      <a:pPr marL="0" indent="0">
                        <a:buFont typeface="Arial" panose="020B0604020202020204" pitchFamily="34" charset="0"/>
                        <a:buNone/>
                      </a:pPr>
                      <a:endParaRPr lang="en-SG" sz="900">
                        <a:solidFill>
                          <a:schemeClr val="accent2">
                            <a:lumMod val="75000"/>
                          </a:schemeClr>
                        </a:solidFill>
                        <a:latin typeface="Arial" panose="020B0604020202020204" pitchFamily="34" charset="0"/>
                        <a:cs typeface="Arial" panose="020B0604020202020204" pitchFamily="34" charset="0"/>
                      </a:endParaRPr>
                    </a:p>
                    <a:p>
                      <a:pPr marL="0" indent="0">
                        <a:buFontTx/>
                        <a:buNone/>
                      </a:pPr>
                      <a:r>
                        <a:rPr lang="en-SG" sz="800">
                          <a:solidFill>
                            <a:srgbClr val="0070C0"/>
                          </a:solidFill>
                          <a:latin typeface="Arial"/>
                          <a:cs typeface="Arial"/>
                        </a:rPr>
                        <a:t>The data is split between training, validation and testing </a:t>
                      </a:r>
                    </a:p>
                    <a:p>
                      <a:pPr marL="0" indent="0">
                        <a:buFontTx/>
                        <a:buNone/>
                      </a:pPr>
                      <a:endParaRPr lang="en-SG" sz="800">
                        <a:solidFill>
                          <a:srgbClr val="0070C0"/>
                        </a:solidFill>
                        <a:latin typeface="Arial" panose="020B0604020202020204" pitchFamily="34" charset="0"/>
                        <a:cs typeface="Arial" panose="020B0604020202020204" pitchFamily="34" charset="0"/>
                      </a:endParaRPr>
                    </a:p>
                    <a:p>
                      <a:pPr algn="l" rtl="0" fontAlgn="base">
                        <a:lnSpc>
                          <a:spcPts val="975"/>
                        </a:lnSpc>
                        <a:buNone/>
                      </a:pPr>
                      <a:r>
                        <a:rPr lang="en-SG" sz="800" b="0" i="0" u="none" strike="noStrike">
                          <a:solidFill>
                            <a:srgbClr val="0070C0"/>
                          </a:solidFill>
                          <a:effectLst/>
                          <a:latin typeface="Arial"/>
                          <a:cs typeface="Arial"/>
                        </a:rPr>
                        <a:t>Business Stakeholders / Executives: ROI and strategic insights.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Data Scientists / Technical Teams: Model performance, metrics, algorithms, assumptions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Operations / Product Teams: Usability, integration, process improvements</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End Users / Clients: Reliability, benefits, user experience</a:t>
                      </a:r>
                      <a:r>
                        <a:rPr lang="en-US" sz="800" b="0" i="0">
                          <a:solidFill>
                            <a:srgbClr val="0070C0"/>
                          </a:solidFill>
                          <a:effectLst/>
                          <a:latin typeface="Arial"/>
                          <a:cs typeface="Arial"/>
                        </a:rPr>
                        <a:t>​</a:t>
                      </a:r>
                    </a:p>
                    <a:p>
                      <a:pPr algn="l" rtl="0" fontAlgn="base">
                        <a:lnSpc>
                          <a:spcPts val="975"/>
                        </a:lnSpc>
                        <a:buNone/>
                      </a:pPr>
                      <a:r>
                        <a:rPr lang="en-SG" sz="800" b="0" i="0">
                          <a:solidFill>
                            <a:srgbClr val="0070C0"/>
                          </a:solidFill>
                          <a:effectLst/>
                          <a:latin typeface="Arial"/>
                          <a:cs typeface="Arial"/>
                        </a:rPr>
                        <a:t>​</a:t>
                      </a:r>
                    </a:p>
                    <a:p>
                      <a:pPr algn="l" rtl="0" fontAlgn="base">
                        <a:lnSpc>
                          <a:spcPts val="975"/>
                        </a:lnSpc>
                        <a:buNone/>
                      </a:pPr>
                      <a:r>
                        <a:rPr lang="en-SG" sz="800" b="0" i="0" u="none" strike="noStrike">
                          <a:solidFill>
                            <a:srgbClr val="0070C0"/>
                          </a:solidFill>
                          <a:effectLst/>
                          <a:latin typeface="Arial"/>
                          <a:cs typeface="Arial"/>
                        </a:rPr>
                        <a:t>Regulators / Auditors: Fairness, transparency, compliance, data governance</a:t>
                      </a:r>
                      <a:endParaRPr lang="en-SG" sz="800" b="0" i="0">
                        <a:solidFill>
                          <a:srgbClr val="0070C0"/>
                        </a:solidFill>
                        <a:effectLst/>
                        <a:latin typeface="Arial"/>
                        <a:cs typeface="Arial"/>
                      </a:endParaRPr>
                    </a:p>
                    <a:p>
                      <a:pPr marL="0" indent="0">
                        <a:buFontTx/>
                        <a:buNone/>
                      </a:pPr>
                      <a:endParaRPr lang="en-SG" sz="800">
                        <a:solidFill>
                          <a:schemeClr val="accent2"/>
                        </a:solidFill>
                        <a:latin typeface="Arial" panose="020B0604020202020204" pitchFamily="34" charset="0"/>
                        <a:cs typeface="Arial" panose="020B0604020202020204" pitchFamily="34" charset="0"/>
                      </a:endParaRPr>
                    </a:p>
                    <a:p>
                      <a:pPr marL="0" indent="0">
                        <a:buFont typeface="Arial" panose="020B0604020202020204" pitchFamily="34" charset="0"/>
                        <a:buNone/>
                      </a:pPr>
                      <a:endParaRPr lang="en-SG" sz="900" b="0">
                        <a:solidFill>
                          <a:schemeClr val="accent2">
                            <a:lumMod val="75000"/>
                          </a:schemeClr>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b="1">
                          <a:latin typeface="Arial"/>
                          <a:cs typeface="Arial"/>
                        </a:rPr>
                        <a:t>Data Selection &amp; Cleansing</a:t>
                      </a:r>
                    </a:p>
                    <a:p>
                      <a:r>
                        <a:rPr lang="en-US" sz="900">
                          <a:latin typeface="Arial"/>
                          <a:cs typeface="Arial"/>
                        </a:rPr>
                        <a:t>Which of the available data is  relevant? Do the data have to  be cleaned up?</a:t>
                      </a:r>
                    </a:p>
                    <a:p>
                      <a:endParaRPr lang="en-SG" sz="90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SG" sz="900">
                          <a:solidFill>
                            <a:srgbClr val="0070C0"/>
                          </a:solidFill>
                          <a:latin typeface="Arial"/>
                          <a:cs typeface="Arial"/>
                        </a:rPr>
                        <a:t> The available dataset from Kaggle website is relevant. The data is huge and was difficult to compute. So, the data has to be cleaned up and taken in chunks.</a:t>
                      </a:r>
                      <a:r>
                        <a:rPr lang="en-SG" sz="900" b="0" i="0">
                          <a:solidFill>
                            <a:srgbClr val="0070C0"/>
                          </a:solidFill>
                          <a:effectLst/>
                          <a:latin typeface="Arial"/>
                        </a:rPr>
                        <a:t> necessary cleaning like handling missing values, removing unnecessary features, duplicates removal will be done. </a:t>
                      </a:r>
                      <a:endParaRPr lang="en-SG" sz="900">
                        <a:solidFill>
                          <a:srgbClr val="0070C0"/>
                        </a:solidFill>
                        <a:latin typeface="Arial"/>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b="1">
                          <a:latin typeface="Arial"/>
                          <a:cs typeface="Arial"/>
                        </a:rPr>
                        <a:t>Data Collection</a:t>
                      </a:r>
                    </a:p>
                    <a:p>
                      <a:r>
                        <a:rPr lang="en-US" sz="900">
                          <a:latin typeface="Arial"/>
                          <a:cs typeface="Arial"/>
                        </a:rPr>
                        <a:t>How and with which methods  should additionally required data  be collected? What properties has  this data to fulfil?</a:t>
                      </a:r>
                    </a:p>
                    <a:p>
                      <a:endParaRPr lang="en-SG" sz="900">
                        <a:solidFill>
                          <a:srgbClr val="0070C0"/>
                        </a:solidFill>
                        <a:latin typeface="Arial" panose="020B0604020202020204" pitchFamily="34" charset="0"/>
                        <a:cs typeface="Arial" panose="020B0604020202020204" pitchFamily="34" charset="0"/>
                      </a:endParaRPr>
                    </a:p>
                    <a:p>
                      <a:r>
                        <a:rPr lang="en-SG" sz="900">
                          <a:solidFill>
                            <a:srgbClr val="0070C0"/>
                          </a:solidFill>
                          <a:latin typeface="Arial"/>
                          <a:cs typeface="Arial"/>
                        </a:rPr>
                        <a:t> - Created some additional features like Month, Season, Day of Weeks from existing dataset only.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3694948"/>
                  </a:ext>
                </a:extLst>
              </a:tr>
              <a:tr h="2734130">
                <a:tc>
                  <a:txBody>
                    <a:bodyPr/>
                    <a:lstStyle/>
                    <a:p>
                      <a:r>
                        <a:rPr lang="en-US" sz="900" b="1">
                          <a:latin typeface="Arial"/>
                          <a:cs typeface="Arial"/>
                        </a:rPr>
                        <a:t>Data Landscape</a:t>
                      </a:r>
                    </a:p>
                    <a:p>
                      <a:r>
                        <a:rPr lang="en-US" sz="900">
                          <a:latin typeface="Arial"/>
                          <a:cs typeface="Arial"/>
                        </a:rPr>
                        <a:t>Which data is required for this and  which is already available? Which  additional data has to be collected?</a:t>
                      </a:r>
                    </a:p>
                    <a:p>
                      <a:endParaRPr lang="en-US" sz="900">
                        <a:latin typeface="Arial" panose="020B0604020202020204" pitchFamily="34" charset="0"/>
                        <a:cs typeface="Arial" panose="020B0604020202020204" pitchFamily="34" charset="0"/>
                      </a:endParaRPr>
                    </a:p>
                    <a:p>
                      <a:r>
                        <a:rPr lang="en-SG" sz="800" b="0" i="0">
                          <a:solidFill>
                            <a:srgbClr val="0070C0"/>
                          </a:solidFill>
                          <a:effectLst/>
                          <a:latin typeface="Arial"/>
                          <a:cs typeface="Arial"/>
                        </a:rPr>
                        <a:t>Need data which includes the features like </a:t>
                      </a:r>
                      <a:r>
                        <a:rPr lang="en-SG" sz="800" b="0" i="0" u="none" strike="noStrike">
                          <a:solidFill>
                            <a:srgbClr val="0070C0"/>
                          </a:solidFill>
                          <a:effectLst/>
                          <a:latin typeface="Arial"/>
                          <a:cs typeface="Arial"/>
                        </a:rPr>
                        <a:t>Temperature, Wind Chill, Humidity(%),Pressure(in),Visibility(mi),Win Direction, WindSpeed(mph),Precipitation, Weather Condition, Amenity, Bump, Crossing etc. </a:t>
                      </a:r>
                    </a:p>
                    <a:p>
                      <a:endParaRPr lang="en-SG" sz="800" b="0" i="0" u="none" strike="noStrike">
                        <a:solidFill>
                          <a:srgbClr val="0070C0"/>
                        </a:solidFill>
                        <a:effectLst/>
                        <a:latin typeface="Arial" panose="020B0604020202020204" pitchFamily="34" charset="0"/>
                        <a:cs typeface="Arial" panose="020B0604020202020204" pitchFamily="34" charset="0"/>
                      </a:endParaRPr>
                    </a:p>
                    <a:p>
                      <a:r>
                        <a:rPr lang="en-SG" sz="800" b="0" i="0" u="none" strike="noStrike">
                          <a:solidFill>
                            <a:srgbClr val="0070C0"/>
                          </a:solidFill>
                          <a:effectLst/>
                          <a:latin typeface="Arial"/>
                          <a:cs typeface="Arial"/>
                        </a:rPr>
                        <a:t>Mostly available in one dataset.</a:t>
                      </a:r>
                      <a:r>
                        <a:rPr lang="en-US" sz="800">
                          <a:solidFill>
                            <a:srgbClr val="0070C0"/>
                          </a:solidFill>
                          <a:latin typeface="Arial"/>
                          <a:cs typeface="Arial"/>
                        </a:rPr>
                        <a:t> Craeted some additional features like Month, Season</a:t>
                      </a:r>
                    </a:p>
                    <a:p>
                      <a:endParaRPr lang="en-SG" sz="90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SG"/>
                    </a:p>
                  </a:txBody>
                  <a:tcPr/>
                </a:tc>
                <a:tc>
                  <a:txBody>
                    <a:bodyPr/>
                    <a:lstStyle/>
                    <a:p>
                      <a:r>
                        <a:rPr lang="en-US" sz="900" b="1">
                          <a:latin typeface="Arial"/>
                          <a:cs typeface="Arial"/>
                        </a:rPr>
                        <a:t>Software &amp; Libraries</a:t>
                      </a:r>
                    </a:p>
                    <a:p>
                      <a:r>
                        <a:rPr lang="en-US" sz="900">
                          <a:latin typeface="Arial"/>
                          <a:cs typeface="Arial"/>
                        </a:rPr>
                        <a:t>Which software should be used? Is  there already a standard solution?  Which libraries are used?</a:t>
                      </a:r>
                    </a:p>
                    <a:p>
                      <a:endParaRPr lang="en-SG" sz="900">
                        <a:latin typeface="Arial" panose="020B0604020202020204" pitchFamily="34" charset="0"/>
                        <a:cs typeface="Arial" panose="020B0604020202020204" pitchFamily="34" charset="0"/>
                      </a:endParaRPr>
                    </a:p>
                    <a:p>
                      <a:r>
                        <a:rPr lang="en-SG" sz="800">
                          <a:solidFill>
                            <a:srgbClr val="0070C0"/>
                          </a:solidFill>
                          <a:latin typeface="Arial"/>
                          <a:cs typeface="Arial"/>
                        </a:rPr>
                        <a:t> - Python, pandas, sklearn, matplotlib, seaborn, </a:t>
                      </a:r>
                    </a:p>
                    <a:p>
                      <a:r>
                        <a:rPr lang="en-SG" sz="800">
                          <a:solidFill>
                            <a:srgbClr val="0070C0"/>
                          </a:solidFill>
                          <a:latin typeface="Arial"/>
                          <a:cs typeface="Arial"/>
                        </a:rPr>
                        <a:t>The results are showcased in streamlit dashboard </a:t>
                      </a:r>
                    </a:p>
                    <a:p>
                      <a:endParaRPr lang="en-SG" sz="900">
                        <a:solidFill>
                          <a:srgbClr val="0070C0"/>
                        </a:solidFill>
                        <a:latin typeface="Arial" panose="020B0604020202020204" pitchFamily="34" charset="0"/>
                        <a:cs typeface="Arial" panose="020B0604020202020204" pitchFamily="34" charset="0"/>
                      </a:endParaRPr>
                    </a:p>
                    <a:p>
                      <a:r>
                        <a:rPr lang="en-SG" sz="900">
                          <a:solidFill>
                            <a:srgbClr val="0070C0"/>
                          </a:solidFill>
                          <a:latin typeface="Arial"/>
                          <a:cs typeface="Aria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SG"/>
                    </a:p>
                  </a:txBody>
                  <a:tcPr/>
                </a:tc>
                <a:tc vMerge="1">
                  <a:txBody>
                    <a:bodyPr/>
                    <a:lstStyle/>
                    <a:p>
                      <a:endParaRPr lang="en-SG" sz="1000">
                        <a:latin typeface="Arial" panose="020B0604020202020204" pitchFamily="34" charset="0"/>
                        <a:cs typeface="Arial" panose="020B0604020202020204" pitchFamily="34" charset="0"/>
                      </a:endParaRPr>
                    </a:p>
                  </a:txBody>
                  <a:tcPr/>
                </a:tc>
                <a:tc vMerge="1">
                  <a:txBody>
                    <a:bodyPr/>
                    <a:lstStyle/>
                    <a:p>
                      <a:endParaRPr lang="en-SG" sz="1000">
                        <a:latin typeface="Arial" panose="020B0604020202020204" pitchFamily="34" charset="0"/>
                        <a:cs typeface="Arial" panose="020B0604020202020204" pitchFamily="34" charset="0"/>
                      </a:endParaRPr>
                    </a:p>
                  </a:txBody>
                  <a:tcPr/>
                </a:tc>
                <a:tc>
                  <a:txBody>
                    <a:bodyPr/>
                    <a:lstStyle/>
                    <a:p>
                      <a:r>
                        <a:rPr lang="en-US" sz="900" b="1">
                          <a:latin typeface="Arial"/>
                          <a:cs typeface="Arial"/>
                        </a:rPr>
                        <a:t>Data Integration</a:t>
                      </a:r>
                    </a:p>
                    <a:p>
                      <a:r>
                        <a:rPr lang="en-US" sz="900">
                          <a:latin typeface="Arial"/>
                          <a:cs typeface="Arial"/>
                        </a:rPr>
                        <a:t>In which system should the data  from different sources be migrated?</a:t>
                      </a:r>
                    </a:p>
                    <a:p>
                      <a:endParaRPr lang="en-SG" sz="900">
                        <a:solidFill>
                          <a:schemeClr val="accent2">
                            <a:lumMod val="75000"/>
                          </a:schemeClr>
                        </a:solidFill>
                        <a:latin typeface="Arial" panose="020B0604020202020204" pitchFamily="34" charset="0"/>
                        <a:cs typeface="Arial" panose="020B0604020202020204" pitchFamily="34" charset="0"/>
                      </a:endParaRPr>
                    </a:p>
                    <a:p>
                      <a:r>
                        <a:rPr lang="en-SG" sz="900">
                          <a:solidFill>
                            <a:srgbClr val="0070C0"/>
                          </a:solidFill>
                          <a:latin typeface="Arial"/>
                          <a:cs typeface="Arial"/>
                        </a:rPr>
                        <a:t> - VS Code &amp; Google Drive as Colab need to be used because of high memory 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900" b="1">
                          <a:latin typeface="Arial"/>
                          <a:cs typeface="Arial"/>
                        </a:rPr>
                        <a:t>Explorative Data Analysis</a:t>
                      </a:r>
                    </a:p>
                    <a:p>
                      <a:r>
                        <a:rPr lang="en-US" sz="900">
                          <a:latin typeface="Arial"/>
                          <a:cs typeface="Arial"/>
                        </a:rPr>
                        <a:t>Are there outliers or structures to be  considered? Creation of descriptive  key figures for the first assessment  of the data.</a:t>
                      </a:r>
                    </a:p>
                    <a:p>
                      <a:endParaRPr lang="en-SG" sz="900">
                        <a:latin typeface="Arial" panose="020B0604020202020204" pitchFamily="34" charset="0"/>
                        <a:cs typeface="Arial" panose="020B0604020202020204" pitchFamily="34" charset="0"/>
                      </a:endParaRPr>
                    </a:p>
                    <a:p>
                      <a:r>
                        <a:rPr lang="en-SG" sz="900">
                          <a:latin typeface="Arial"/>
                          <a:cs typeface="Arial"/>
                        </a:rPr>
                        <a:t> </a:t>
                      </a:r>
                      <a:r>
                        <a:rPr lang="en-SG" sz="900">
                          <a:solidFill>
                            <a:srgbClr val="0070C0"/>
                          </a:solidFill>
                          <a:latin typeface="Arial"/>
                          <a:cs typeface="Arial"/>
                        </a:rPr>
                        <a:t>- There are no outliers. The EDA is present in the .ipynb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1979306"/>
                  </a:ext>
                </a:extLst>
              </a:tr>
            </a:tbl>
          </a:graphicData>
        </a:graphic>
      </p:graphicFrame>
    </p:spTree>
    <p:extLst>
      <p:ext uri="{BB962C8B-B14F-4D97-AF65-F5344CB8AC3E}">
        <p14:creationId xmlns:p14="http://schemas.microsoft.com/office/powerpoint/2010/main" val="3638312931"/>
      </p:ext>
    </p:extLst>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1</Notes>
  <HiddenSlides>1</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Retrospect</vt:lpstr>
      <vt:lpstr>Data Science in Practice  US Accidents – Predictive Modelling and EDA</vt:lpstr>
      <vt:lpstr>PowerPoint Presentation</vt:lpstr>
      <vt:lpstr>PowerPoint Presentation</vt:lpstr>
      <vt:lpstr>PowerPoint Presentation</vt:lpstr>
      <vt:lpstr>PowerPoint Presentation</vt:lpstr>
      <vt:lpstr>Data Exploration</vt:lpstr>
      <vt:lpstr>Data Exploration</vt:lpstr>
      <vt:lpstr>Data Exploration</vt:lpstr>
      <vt:lpstr>EDA – By cities and states</vt:lpstr>
      <vt:lpstr>PowerPoint Presentation</vt:lpstr>
      <vt:lpstr>PowerPoint Presentation</vt:lpstr>
      <vt:lpstr>PowerPoint Presentation</vt:lpstr>
      <vt:lpstr>PowerPoint Presentation</vt:lpstr>
      <vt:lpstr>Business recommendations</vt:lpstr>
      <vt:lpstr>Challenges &amp; Future Possibilities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24</cp:revision>
  <dcterms:created xsi:type="dcterms:W3CDTF">2025-11-27T08:37:46Z</dcterms:created>
  <dcterms:modified xsi:type="dcterms:W3CDTF">2025-12-02T07:21:29Z</dcterms:modified>
</cp:coreProperties>
</file>